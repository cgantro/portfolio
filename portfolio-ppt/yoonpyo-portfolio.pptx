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 FPS</c:v>
                </c:pt>
              </c:strCache>
            </c:strRef>
          </c:tx>
          <c:spPr>
            <a:solidFill>
              <a:srgbClr val="A8B7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Single (1)</c:v>
                  </c:pt>
                  <c:pt idx="1">
                    <c:v>W4</c:v>
                  </c:pt>
                  <c:pt idx="2">
                    <c:v>W6</c:v>
                  </c:pt>
                  <c:pt idx="3">
                    <c:v>W8</c:v>
                  </c:pt>
                  <c:pt idx="4">
                    <c:v>W12 ★</c:v>
                  </c:pt>
                  <c:pt idx="5">
                    <c:v>W19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67</c:v>
                </c:pt>
                <c:pt idx="1">
                  <c:v>78.5</c:v>
                </c:pt>
                <c:pt idx="2">
                  <c:v>84.91</c:v>
                </c:pt>
                <c:pt idx="3">
                  <c:v>85.1</c:v>
                </c:pt>
                <c:pt idx="4">
                  <c:v>85.72</c:v>
                </c:pt>
                <c:pt idx="5">
                  <c:v>83.45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2"/>
          <c:min val="5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E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F6EF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97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A8B7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 DEVELOPER  ·  SYSTEM THINKER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3108960"/>
            <a:ext cx="8686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5200" b="1" spc="-1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문제를 구조로</a:t>
            </a:r>
            <a:endParaRPr lang="en-US" sz="5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5200" b="1" spc="-1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풀어온 개발자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4663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B7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yoonpyo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789920" y="5303520"/>
            <a:ext cx="822960" cy="822960"/>
          </a:xfrm>
          <a:prstGeom prst="ellipse">
            <a:avLst/>
          </a:prstGeom>
          <a:solidFill>
            <a:srgbClr val="4F6EF1"/>
          </a:solidFill>
          <a:ln/>
        </p:spPr>
      </p:sp>
      <p:sp>
        <p:nvSpPr>
          <p:cNvPr id="7" name="Shape 5"/>
          <p:cNvSpPr/>
          <p:nvPr/>
        </p:nvSpPr>
        <p:spPr>
          <a:xfrm>
            <a:off x="11338560" y="5029200"/>
            <a:ext cx="457200" cy="457200"/>
          </a:xfrm>
          <a:prstGeom prst="ellipse">
            <a:avLst/>
          </a:prstGeom>
          <a:solidFill>
            <a:srgbClr val="A8B7F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5877" y="279806"/>
            <a:ext cx="5029200" cy="245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6E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85877" y="778154"/>
            <a:ext cx="11212373" cy="4617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5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구현보다 왜 깨지는지를 먼저 파악하고 구조로 해결했다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5877" y="1345997"/>
            <a:ext cx="11212373" cy="2770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AGV · RobotPal · 영묘 · STICKER — 도메인이 달라도 구조 문제는 같았다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85877" y="2011680"/>
            <a:ext cx="3696919" cy="3520440"/>
          </a:xfrm>
          <a:prstGeom prst="roundRect">
            <a:avLst>
              <a:gd name="adj" fmla="val 4675"/>
            </a:avLst>
          </a:prstGeom>
          <a:solidFill>
            <a:srgbClr val="FFFFFF"/>
          </a:solidFill>
          <a:ln w="12700">
            <a:solidFill>
              <a:srgbClr val="EDEE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247388" y="2011680"/>
            <a:ext cx="3696919" cy="3520440"/>
          </a:xfrm>
          <a:prstGeom prst="roundRect">
            <a:avLst>
              <a:gd name="adj" fmla="val 4675"/>
            </a:avLst>
          </a:prstGeom>
          <a:solidFill>
            <a:srgbClr val="FFFFFF"/>
          </a:solidFill>
          <a:ln w="12700">
            <a:solidFill>
              <a:srgbClr val="EDEE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108899" y="2011680"/>
            <a:ext cx="3696919" cy="3520440"/>
          </a:xfrm>
          <a:prstGeom prst="roundRect">
            <a:avLst>
              <a:gd name="adj" fmla="val 4675"/>
            </a:avLst>
          </a:prstGeom>
          <a:solidFill>
            <a:srgbClr val="FFFFFF"/>
          </a:solidFill>
          <a:ln w="12700">
            <a:solidFill>
              <a:srgbClr val="EDEE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04165" y="2029968"/>
            <a:ext cx="3660343" cy="3483864"/>
          </a:xfrm>
          <a:prstGeom prst="roundRect">
            <a:avLst>
              <a:gd name="adj" fmla="val 3675"/>
            </a:avLst>
          </a:prstGeom>
          <a:solidFill>
            <a:srgbClr val="F8F9FF"/>
          </a:solidFill>
          <a:ln w="17780">
            <a:solidFill>
              <a:srgbClr val="A8B7F8"/>
            </a:solidFill>
            <a:prstDash val="solid"/>
          </a:ln>
          <a:effectLst>
            <a:outerShdw sx="100000" sy="100000" kx="0" ky="0" algn="bl" rotWithShape="0" blurRad="190500" dist="50800" dir="5400000">
              <a:srgbClr val="4F6EF1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68757" y="2212848"/>
            <a:ext cx="3331159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4F6E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안전장치 2개로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4F6E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롤백 버그를 막았다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8757" y="2944368"/>
            <a:ext cx="3331159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실물 토잉카와 MQTT 통신,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WebSocket 인증 설계 단독 구현.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뒤늦게 도착한 메시지가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상태를 덮어쓰는 버그를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검증 2단계로 차단.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8757" y="5102352"/>
            <a:ext cx="3331159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6E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AGV  ·  영묘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411980" y="2212848"/>
            <a:ext cx="3331159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10단계 실측으로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+27% FPS 향상을 확보했다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11980" y="2944368"/>
            <a:ext cx="3331159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워커 수 1→12 실측 후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W12에서 67→85.7 FPS 확인.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AOP 메트릭으로 코드 변경 없이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병목 레이어를 정확히 찾아내고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인덱스·캐시·가상 스레드 적용.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1980" y="5102352"/>
            <a:ext cx="3331159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RobotPal  ·  STICKER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73491" y="2212848"/>
            <a:ext cx="3331159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매번 같은 결론: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인터페이스 경계는 처음부터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73491" y="2944368"/>
            <a:ext cx="3331159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TxUtil, INetworkEventLoop,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SmartLifecycle — 프로젝트마다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리팩토링을 거쳤고, 결론은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동일했다: 경계를 늦게 잡을수록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부채가 배로 늘어난다.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273491" y="5102352"/>
            <a:ext cx="3331159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AGV  ·  영묘  ·  STICKER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68757" y="5669280"/>
            <a:ext cx="11055096" cy="320040"/>
          </a:xfrm>
          <a:prstGeom prst="roundRect">
            <a:avLst>
              <a:gd name="adj" fmla="val 17143"/>
            </a:avLst>
          </a:prstGeom>
          <a:solidFill>
            <a:srgbClr val="F0F0F0"/>
          </a:solidFill>
          <a:ln/>
        </p:spPr>
      </p:sp>
      <p:sp>
        <p:nvSpPr>
          <p:cNvPr id="19" name="Text 17"/>
          <p:cNvSpPr/>
          <p:nvPr/>
        </p:nvSpPr>
        <p:spPr>
          <a:xfrm>
            <a:off x="660197" y="5669280"/>
            <a:ext cx="108722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구조적 사고 → 실물 연동 → 데이터 검증 — 이 세 축이 반복됩니다.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84280" y="6263640"/>
            <a:ext cx="429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5877" y="279806"/>
            <a:ext cx="5029200" cy="245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6E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SITUATION · TIMELINE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85877" y="778154"/>
            <a:ext cx="11212373" cy="4617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5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6개월, 매번 같은 패턴의 문제를 마주쳤다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5877" y="1345997"/>
            <a:ext cx="11212373" cy="2770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실물 하드웨어 → 게임 서버 → 모니터링 인프라 — 도메인이 달라도 구조 문제는 같았다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85877" y="2011680"/>
            <a:ext cx="11420856" cy="3520440"/>
          </a:xfrm>
          <a:prstGeom prst="roundRect">
            <a:avLst>
              <a:gd name="adj" fmla="val 4675"/>
            </a:avLst>
          </a:prstGeom>
          <a:solidFill>
            <a:srgbClr val="FFFFFF"/>
          </a:solidFill>
          <a:ln w="12700">
            <a:solidFill>
              <a:srgbClr val="EDEE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60197" y="3566160"/>
            <a:ext cx="10872216" cy="9144"/>
          </a:xfrm>
          <a:prstGeom prst="line">
            <a:avLst/>
          </a:prstGeom>
          <a:noFill/>
          <a:ln w="19050">
            <a:solidFill>
              <a:srgbClr val="EDEE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0" y="3493008"/>
            <a:ext cx="219456" cy="219456"/>
          </a:xfrm>
          <a:prstGeom prst="ellipse">
            <a:avLst/>
          </a:prstGeom>
          <a:solidFill>
            <a:srgbClr val="A8B7F8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228600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RobotPal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2596896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2025.11–2026.04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755648" y="3236976"/>
            <a:ext cx="9144" cy="256032"/>
          </a:xfrm>
          <a:prstGeom prst="line">
            <a:avLst/>
          </a:prstGeom>
          <a:noFill/>
          <a:ln w="12700">
            <a:solidFill>
              <a:srgbClr val="A8B7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37947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스트리밍 최적화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8368" y="407822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C++17 · OpenGL · PBO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389120" y="3493008"/>
            <a:ext cx="219456" cy="219456"/>
          </a:xfrm>
          <a:prstGeom prst="ellipse">
            <a:avLst/>
          </a:prstGeom>
          <a:solidFill>
            <a:srgbClr val="4F6EF1"/>
          </a:solidFill>
          <a:ln/>
        </p:spPr>
      </p:sp>
      <p:sp>
        <p:nvSpPr>
          <p:cNvPr id="14" name="Text 12"/>
          <p:cNvSpPr/>
          <p:nvPr/>
        </p:nvSpPr>
        <p:spPr>
          <a:xfrm>
            <a:off x="3401568" y="228600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6E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AGV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01568" y="2596896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2026.01–02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498848" y="3236976"/>
            <a:ext cx="9144" cy="256032"/>
          </a:xfrm>
          <a:prstGeom prst="line">
            <a:avLst/>
          </a:prstGeom>
          <a:noFill/>
          <a:ln w="12700">
            <a:solidFill>
              <a:srgbClr val="4F6E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01568" y="37947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E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단독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01568" y="407822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· MQTT · A*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132320" y="3493008"/>
            <a:ext cx="219456" cy="219456"/>
          </a:xfrm>
          <a:prstGeom prst="ellipse">
            <a:avLst/>
          </a:prstGeom>
          <a:solidFill>
            <a:srgbClr val="A8B7F8"/>
          </a:solidFill>
          <a:ln/>
        </p:spPr>
      </p:sp>
      <p:sp>
        <p:nvSpPr>
          <p:cNvPr id="20" name="Text 18"/>
          <p:cNvSpPr/>
          <p:nvPr/>
        </p:nvSpPr>
        <p:spPr>
          <a:xfrm>
            <a:off x="6144768" y="228600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영묘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44768" y="2596896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2026.02–03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242048" y="3236976"/>
            <a:ext cx="9144" cy="256032"/>
          </a:xfrm>
          <a:prstGeom prst="line">
            <a:avLst/>
          </a:prstGeom>
          <a:noFill/>
          <a:ln w="12700">
            <a:solidFill>
              <a:srgbClr val="A8B7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44768" y="37947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보이스·게임서버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44768" y="407822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UE5 · Opus · C++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9875520" y="3493008"/>
            <a:ext cx="219456" cy="219456"/>
          </a:xfrm>
          <a:prstGeom prst="ellipse">
            <a:avLst/>
          </a:prstGeom>
          <a:solidFill>
            <a:srgbClr val="A8B7F8"/>
          </a:solidFill>
          <a:ln/>
        </p:spPr>
      </p:sp>
      <p:sp>
        <p:nvSpPr>
          <p:cNvPr id="26" name="Text 24"/>
          <p:cNvSpPr/>
          <p:nvPr/>
        </p:nvSpPr>
        <p:spPr>
          <a:xfrm>
            <a:off x="8887968" y="228600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STICKER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887968" y="2596896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2026.04–05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985248" y="3236976"/>
            <a:ext cx="9144" cy="256032"/>
          </a:xfrm>
          <a:prstGeom prst="line">
            <a:avLst/>
          </a:prstGeom>
          <a:noFill/>
          <a:ln w="12700">
            <a:solidFill>
              <a:srgbClr val="A8B7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887968" y="37947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백엔드·인프라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887968" y="407822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· SQS · Grafana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60197" y="4709160"/>
            <a:ext cx="108722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패턴: 상태 관리 / 비동기 통신 / 책임 분리 인터페이스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68757" y="5669280"/>
            <a:ext cx="11055096" cy="320040"/>
          </a:xfrm>
          <a:prstGeom prst="roundRect">
            <a:avLst>
              <a:gd name="adj" fmla="val 17143"/>
            </a:avLst>
          </a:prstGeom>
          <a:solidFill>
            <a:srgbClr val="F0F0F0"/>
          </a:solidFill>
          <a:ln/>
        </p:spPr>
      </p:sp>
      <p:sp>
        <p:nvSpPr>
          <p:cNvPr id="33" name="Text 31"/>
          <p:cNvSpPr/>
          <p:nvPr/>
        </p:nvSpPr>
        <p:spPr>
          <a:xfrm>
            <a:off x="660197" y="5669280"/>
            <a:ext cx="108722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도메인이 달라도 '상태가 꼬이는 이유'와 '구조 부채'는 동일했습니다.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384280" y="6263640"/>
            <a:ext cx="429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5877" y="279806"/>
            <a:ext cx="5029200" cy="245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6E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KEY LINE 1 · AGV 오토잉카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85877" y="778154"/>
            <a:ext cx="11212373" cy="4617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5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MQTT 지연으로 오래된 상태가 DB를 되돌리는 버그, 안전장치 2개로 막았다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5877" y="1345997"/>
            <a:ext cx="11212373" cy="2770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MQTT 상태 머신 · 지연 페이로드 보호 · Spring Boot 백엔드 단독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85877" y="2011680"/>
            <a:ext cx="4526280" cy="3520440"/>
          </a:xfrm>
          <a:prstGeom prst="roundRect">
            <a:avLst>
              <a:gd name="adj" fmla="val 4675"/>
            </a:avLst>
          </a:prstGeom>
          <a:solidFill>
            <a:srgbClr val="FFFFFF"/>
          </a:solidFill>
          <a:ln w="12700">
            <a:solidFill>
              <a:srgbClr val="EDEE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95037" y="2011680"/>
            <a:ext cx="6711696" cy="3520440"/>
          </a:xfrm>
          <a:prstGeom prst="roundRect">
            <a:avLst>
              <a:gd name="adj" fmla="val 4675"/>
            </a:avLst>
          </a:prstGeom>
          <a:solidFill>
            <a:srgbClr val="FFFFFF"/>
          </a:solidFill>
          <a:ln w="12700">
            <a:solidFill>
              <a:srgbClr val="EDEE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8757" y="2240280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E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68757" y="2514600"/>
            <a:ext cx="4160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도킹 완료 후에도 계속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중으로 인식되어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동작을 반복 실행하는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무한 루프 발생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71600" y="36576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8B7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68757" y="3794760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8757" y="4069080"/>
            <a:ext cx="4160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액션이 DB 상태를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바꿨는데, 뒤늦게 도착한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 상태값이 DB를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원래대로 덮어씀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113325" y="2029968"/>
            <a:ext cx="6675120" cy="1417320"/>
          </a:xfrm>
          <a:prstGeom prst="roundRect">
            <a:avLst>
              <a:gd name="adj" fmla="val 9032"/>
            </a:avLst>
          </a:prstGeom>
          <a:solidFill>
            <a:srgbClr val="F8F9FF"/>
          </a:solidFill>
          <a:ln w="17780">
            <a:solidFill>
              <a:srgbClr val="A8B7F8"/>
            </a:solidFill>
            <a:prstDash val="solid"/>
          </a:ln>
          <a:effectLst>
            <a:outerShdw sx="100000" sy="100000" kx="0" ky="0" algn="bl" rotWithShape="0" blurRad="190500" dist="50800" dir="5400000">
              <a:srgbClr val="4F6EF1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277917" y="212140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E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안전장치 1 — stale 상태 무시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277917" y="2395728"/>
            <a:ext cx="6309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(car.getStatus() == DOCKING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&amp;&amp; payload == MOVING_TO_GATE)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강제 DOCKING 유지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277917" y="361188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안전장치 2 — 자동 액션 우선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77917" y="3886200"/>
            <a:ext cx="6309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preStatus = car.getStatus()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checkAndTriggerAutoActions()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(car.getStatus() != preStatus)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payload 상태 대신 변경된 상태 사용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277917" y="4956048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결과: 늦게 온 메시지가 DB 상태를 되돌리는 버그 완전 차단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8757" y="5669280"/>
            <a:ext cx="11055096" cy="320040"/>
          </a:xfrm>
          <a:prstGeom prst="roundRect">
            <a:avLst>
              <a:gd name="adj" fmla="val 17143"/>
            </a:avLst>
          </a:prstGeom>
          <a:solidFill>
            <a:srgbClr val="F0F0F0"/>
          </a:solidFill>
          <a:ln/>
        </p:spPr>
      </p:sp>
      <p:sp>
        <p:nvSpPr>
          <p:cNvPr id="19" name="Text 17"/>
          <p:cNvSpPr/>
          <p:nvPr/>
        </p:nvSpPr>
        <p:spPr>
          <a:xfrm>
            <a:off x="660197" y="5669280"/>
            <a:ext cx="108722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MQTT 메시지는 언제나 늦게 온 과거 값일 수 있습니다. DB에 저장된 현재 상태가 항상 우선입니다.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9204" y="62636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Source: AGV 프로젝트 커밋 메시지 직접 인용 (2026-02-06)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384280" y="6263640"/>
            <a:ext cx="429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5877" y="279806"/>
            <a:ext cx="5029200" cy="245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6E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KEY LINE 1 · AGV 인증 설계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85877" y="778154"/>
            <a:ext cx="11212373" cy="4617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5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WebSocket 전용 토큰을 1분으로 제한해 URL 노출 위험을 최소화했다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5877" y="1345997"/>
            <a:ext cx="11212373" cy="2770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JWT 3종 토큰 분리 · Spring Security · Redis Refresh Token Rotation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85877" y="2011680"/>
            <a:ext cx="11420856" cy="3520440"/>
          </a:xfrm>
          <a:prstGeom prst="roundRect">
            <a:avLst>
              <a:gd name="adj" fmla="val 4675"/>
            </a:avLst>
          </a:prstGeom>
          <a:solidFill>
            <a:srgbClr val="FFFFFF"/>
          </a:solidFill>
          <a:ln w="12700">
            <a:solidFill>
              <a:srgbClr val="EDEE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60197" y="2377440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E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ACCESS TOKEN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60197" y="2743200"/>
            <a:ext cx="777240" cy="256032"/>
          </a:xfrm>
          <a:prstGeom prst="roundRect">
            <a:avLst>
              <a:gd name="adj" fmla="val 17857"/>
            </a:avLst>
          </a:prstGeom>
          <a:solidFill>
            <a:srgbClr val="F0F0F0"/>
          </a:solidFill>
          <a:ln w="12700">
            <a:solidFill>
              <a:srgbClr val="EDEE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0197" y="274320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6E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15분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60197" y="306324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 API 인증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60197" y="3429000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Authorization 헤더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API 요청 전용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17797" y="2212848"/>
            <a:ext cx="3611880" cy="3063240"/>
          </a:xfrm>
          <a:prstGeom prst="roundRect">
            <a:avLst>
              <a:gd name="adj" fmla="val 4179"/>
            </a:avLst>
          </a:prstGeom>
          <a:solidFill>
            <a:srgbClr val="F8F9FF"/>
          </a:solidFill>
          <a:ln w="17780">
            <a:solidFill>
              <a:srgbClr val="A8B7F8"/>
            </a:solidFill>
            <a:prstDash val="solid"/>
          </a:ln>
          <a:effectLst>
            <a:outerShdw sx="100000" sy="100000" kx="0" ky="0" algn="bl" rotWithShape="0" blurRad="190500" dist="50800" dir="5400000">
              <a:srgbClr val="4F6EF1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09237" y="2377440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14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SOCKET TOKEN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09237" y="2743200"/>
            <a:ext cx="777240" cy="256032"/>
          </a:xfrm>
          <a:prstGeom prst="roundRect">
            <a:avLst>
              <a:gd name="adj" fmla="val 17857"/>
            </a:avLst>
          </a:prstGeom>
          <a:solidFill>
            <a:srgbClr val="F8F9FF"/>
          </a:solidFill>
          <a:ln w="12700">
            <a:solidFill>
              <a:srgbClr val="A8B7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09237" y="274320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14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1분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409237" y="306324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WebSocket 핸드셰이크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09237" y="3429000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socket_token 쿼리 파라미터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짧은 TTL로 노출 위험 최소화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158277" y="2377440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REFRESH TOKEN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158277" y="2743200"/>
            <a:ext cx="777240" cy="256032"/>
          </a:xfrm>
          <a:prstGeom prst="roundRect">
            <a:avLst>
              <a:gd name="adj" fmla="val 17857"/>
            </a:avLst>
          </a:prstGeom>
          <a:solidFill>
            <a:srgbClr val="F0F0F0"/>
          </a:solidFill>
          <a:ln w="12700">
            <a:solidFill>
              <a:srgbClr val="EDEE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58277" y="274320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7일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158277" y="306324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갱신 + 재사용 감지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158277" y="3429000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Redis TTL 저장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재사용 감지 시 전체 세션 무효화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60197" y="4919472"/>
            <a:ext cx="108722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→ ACCESS + SOCKET + REFRESH 동시 발급  ·  SOCKET은 WebSocket 연결에만 사용·검증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68757" y="5669280"/>
            <a:ext cx="11055096" cy="320040"/>
          </a:xfrm>
          <a:prstGeom prst="roundRect">
            <a:avLst>
              <a:gd name="adj" fmla="val 17143"/>
            </a:avLst>
          </a:prstGeom>
          <a:solidFill>
            <a:srgbClr val="F0F0F0"/>
          </a:solidFill>
          <a:ln/>
        </p:spPr>
      </p:sp>
      <p:sp>
        <p:nvSpPr>
          <p:cNvPr id="24" name="Text 22"/>
          <p:cNvSpPr/>
          <p:nvPr/>
        </p:nvSpPr>
        <p:spPr>
          <a:xfrm>
            <a:off x="660197" y="5669280"/>
            <a:ext cx="108722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WebSocket 연결은 헤더를 못 쓰니 토큰이 URL에 드러납니다. 수명 1분짜리 전용 토큰이 유일한 답입니다.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9204" y="62636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Source: AGV 커밋 S14P11A402-163 (2026-01-26)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384280" y="6263640"/>
            <a:ext cx="429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5877" y="279806"/>
            <a:ext cx="5029200" cy="245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6E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KEY LINE 2 · RobotPal 성능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85877" y="778154"/>
            <a:ext cx="11212373" cy="4617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5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감이 아닌 수치로 — 워커 수 10단계 실측해서 +27% FPS 향상을 확보했다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5877" y="1345997"/>
            <a:ext cx="11212373" cy="2770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libjpeg-turbo 멀티스레드 인코딩 · PBO 비동기 readback · C++17 OpenGL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85877" y="2011680"/>
            <a:ext cx="6711696" cy="3520440"/>
          </a:xfrm>
          <a:prstGeom prst="roundRect">
            <a:avLst>
              <a:gd name="adj" fmla="val 4675"/>
            </a:avLst>
          </a:prstGeom>
          <a:solidFill>
            <a:srgbClr val="FFFFFF"/>
          </a:solidFill>
          <a:ln w="12700">
            <a:solidFill>
              <a:srgbClr val="EDEE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280453" y="2011680"/>
            <a:ext cx="4526280" cy="3520440"/>
          </a:xfrm>
          <a:prstGeom prst="roundRect">
            <a:avLst>
              <a:gd name="adj" fmla="val 4675"/>
            </a:avLst>
          </a:prstGeom>
          <a:solidFill>
            <a:srgbClr val="FFFFFF"/>
          </a:solidFill>
          <a:ln w="12700">
            <a:solidFill>
              <a:srgbClr val="EDEE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8757" y="2194560"/>
            <a:ext cx="6345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인코딩 워커 수 vs APP FPS (816×616)</a:t>
            </a:r>
            <a:endParaRPr lang="en-US" sz="10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68757" y="2487168"/>
          <a:ext cx="6345936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660197" y="52303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6E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+27.2%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218688" y="52303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(Single → W12)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463333" y="2240280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병목 원인 &amp; 해결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463333" y="2679192"/>
            <a:ext cx="128016" cy="128016"/>
          </a:xfrm>
          <a:prstGeom prst="ellipse">
            <a:avLst/>
          </a:prstGeom>
          <a:solidFill>
            <a:srgbClr val="45515E"/>
          </a:solidFill>
          <a:ln/>
        </p:spPr>
      </p:sp>
      <p:sp>
        <p:nvSpPr>
          <p:cNvPr id="13" name="Text 10"/>
          <p:cNvSpPr/>
          <p:nvPr/>
        </p:nvSpPr>
        <p:spPr>
          <a:xfrm>
            <a:off x="7635240" y="262432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glReadPixels 동기 블로킹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635240" y="28803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 렌더 완료까지 CPU 대기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7463333" y="3392424"/>
            <a:ext cx="128016" cy="128016"/>
          </a:xfrm>
          <a:prstGeom prst="ellipse">
            <a:avLst/>
          </a:prstGeom>
          <a:solidFill>
            <a:srgbClr val="4F6EF1"/>
          </a:solidFill>
          <a:ln/>
        </p:spPr>
      </p:sp>
      <p:sp>
        <p:nvSpPr>
          <p:cNvPr id="16" name="Text 13"/>
          <p:cNvSpPr/>
          <p:nvPr/>
        </p:nvSpPr>
        <p:spPr>
          <a:xfrm>
            <a:off x="7635240" y="33375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E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PBO 더블 버퍼 ping-pong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635240" y="359359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 N 쓰는 동안 N-1 읽기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7463333" y="4105656"/>
            <a:ext cx="128016" cy="128016"/>
          </a:xfrm>
          <a:prstGeom prst="ellipse">
            <a:avLst/>
          </a:prstGeom>
          <a:solidFill>
            <a:srgbClr val="4F6EF1"/>
          </a:solidFill>
          <a:ln/>
        </p:spPr>
      </p:sp>
      <p:sp>
        <p:nvSpPr>
          <p:cNvPr id="19" name="Text 16"/>
          <p:cNvSpPr/>
          <p:nvPr/>
        </p:nvSpPr>
        <p:spPr>
          <a:xfrm>
            <a:off x="7635240" y="405079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E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인코딩 스레드 분리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635240" y="430682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네트워크 전송과 완전 독립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7463333" y="4818888"/>
            <a:ext cx="128016" cy="128016"/>
          </a:xfrm>
          <a:prstGeom prst="ellipse">
            <a:avLst/>
          </a:prstGeom>
          <a:solidFill>
            <a:srgbClr val="4F6EF1"/>
          </a:solidFill>
          <a:ln/>
        </p:spPr>
      </p:sp>
      <p:sp>
        <p:nvSpPr>
          <p:cNvPr id="22" name="Text 19"/>
          <p:cNvSpPr/>
          <p:nvPr/>
        </p:nvSpPr>
        <p:spPr>
          <a:xfrm>
            <a:off x="7635240" y="476402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E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워커 12 고정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635240" y="502005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OS·렌더·네트워크에 여유 코어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68757" y="5669280"/>
            <a:ext cx="11055096" cy="320040"/>
          </a:xfrm>
          <a:prstGeom prst="roundRect">
            <a:avLst>
              <a:gd name="adj" fmla="val 17143"/>
            </a:avLst>
          </a:prstGeom>
          <a:solidFill>
            <a:srgbClr val="F0F0F0"/>
          </a:solidFill>
          <a:ln/>
        </p:spPr>
      </p:sp>
      <p:sp>
        <p:nvSpPr>
          <p:cNvPr id="25" name="Text 22"/>
          <p:cNvSpPr/>
          <p:nvPr/>
        </p:nvSpPr>
        <p:spPr>
          <a:xfrm>
            <a:off x="660197" y="5669280"/>
            <a:ext cx="108722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 readback 병목은 GPU가 느린 게 아닙니다. 동기 호출 구조 자체가 문제일 뿐입니다.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89204" y="62636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Source: RobotPal 카메라스트리밍 병목분석.md · Debug 빌드 기준 (2026-04-09)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11384280" y="6263640"/>
            <a:ext cx="429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5877" y="279806"/>
            <a:ext cx="5029200" cy="245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6E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KEY LINE 2 · STICKER 모니터링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85877" y="778154"/>
            <a:ext cx="11212373" cy="4617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5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AOP 계층별 메트릭으로 코드 한 줄 안 건드리고 병목 위치를 찾아냈다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5877" y="1345997"/>
            <a:ext cx="11212373" cy="2770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Micrometer AOP · Prometheus · Grafana · p95/p99 SLO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85877" y="2011680"/>
            <a:ext cx="11420856" cy="3520440"/>
          </a:xfrm>
          <a:prstGeom prst="roundRect">
            <a:avLst>
              <a:gd name="adj" fmla="val 4675"/>
            </a:avLst>
          </a:prstGeom>
          <a:solidFill>
            <a:srgbClr val="FFFFFF"/>
          </a:solidFill>
          <a:ln w="12700">
            <a:solidFill>
              <a:srgbClr val="EDEE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8757" y="2331720"/>
            <a:ext cx="10872216" cy="457200"/>
          </a:xfrm>
          <a:prstGeom prst="roundRect">
            <a:avLst>
              <a:gd name="adj" fmla="val 14000"/>
            </a:avLst>
          </a:prstGeom>
          <a:solidFill>
            <a:srgbClr val="F2F3F5"/>
          </a:solidFill>
          <a:ln w="12700">
            <a:solidFill>
              <a:srgbClr val="EDEE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1637" y="23317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Controller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80437" y="23317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 요청 수신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68757" y="2907792"/>
            <a:ext cx="10872216" cy="457200"/>
          </a:xfrm>
          <a:prstGeom prst="roundRect">
            <a:avLst>
              <a:gd name="adj" fmla="val 14000"/>
            </a:avLst>
          </a:prstGeom>
          <a:solidFill>
            <a:srgbClr val="F8F9FF"/>
          </a:solidFill>
          <a:ln w="12700">
            <a:solidFill>
              <a:srgbClr val="A8B7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1637" y="290779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E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Service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80437" y="29077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app_operation_seconds — layer=service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68757" y="3483864"/>
            <a:ext cx="10872216" cy="457200"/>
          </a:xfrm>
          <a:prstGeom prst="roundRect">
            <a:avLst>
              <a:gd name="adj" fmla="val 14000"/>
            </a:avLst>
          </a:prstGeom>
          <a:solidFill>
            <a:srgbClr val="F8F9FF"/>
          </a:solidFill>
          <a:ln w="12700">
            <a:solidFill>
              <a:srgbClr val="A8B7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1637" y="3483864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E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Repository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80437" y="3483864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app_db_query_candidate_seconds — 슬로우쿼리 1차 감지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8757" y="4059936"/>
            <a:ext cx="10872216" cy="457200"/>
          </a:xfrm>
          <a:prstGeom prst="roundRect">
            <a:avLst>
              <a:gd name="adj" fmla="val 14000"/>
            </a:avLst>
          </a:prstGeom>
          <a:solidFill>
            <a:srgbClr val="F8F9FF"/>
          </a:solidFill>
          <a:ln w="12700">
            <a:solidFill>
              <a:srgbClr val="A8B7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1637" y="4059936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E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External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80437" y="4059936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layer=external — KMA API · SQS 호출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68757" y="4663440"/>
            <a:ext cx="108722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메트릭 태그  |  endpoint: /users/{id} (raw URI 금지, 카디널리티 통제)  ·  operation: 10개 버킷  ·  result: success/error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68757" y="5010912"/>
            <a:ext cx="3474720" cy="384048"/>
          </a:xfrm>
          <a:prstGeom prst="roundRect">
            <a:avLst>
              <a:gd name="adj" fmla="val 14286"/>
            </a:avLst>
          </a:prstGeom>
          <a:solidFill>
            <a:srgbClr val="F0F0F0"/>
          </a:solidFill>
          <a:ln w="12700">
            <a:solidFill>
              <a:srgbClr val="EDEE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1637" y="501091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인덱스 추가  ·  findByUser_IdOrderByCreatedAtDesc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17797" y="5010912"/>
            <a:ext cx="3474720" cy="384048"/>
          </a:xfrm>
          <a:prstGeom prst="roundRect">
            <a:avLst>
              <a:gd name="adj" fmla="val 14286"/>
            </a:avLst>
          </a:prstGeom>
          <a:solidFill>
            <a:srgbClr val="F0F0F0"/>
          </a:solidFill>
          <a:ln w="12700">
            <a:solidFill>
              <a:srgbClr val="EDEE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00677" y="501091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Java 21 가상 스레드  ·  SQS long-polling 20s, OS 스레드 미점유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8066837" y="5010912"/>
            <a:ext cx="3474720" cy="384048"/>
          </a:xfrm>
          <a:prstGeom prst="roundRect">
            <a:avLst>
              <a:gd name="adj" fmla="val 14286"/>
            </a:avLst>
          </a:prstGeom>
          <a:solidFill>
            <a:srgbClr val="F0F0F0"/>
          </a:solidFill>
          <a:ln w="12700">
            <a:solidFill>
              <a:srgbClr val="EDEE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49717" y="501091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날씨 + S3 URL 캐싱  ·  격자점 기준 on-demand 캐시, 외부 API 빈도 감소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68757" y="5669280"/>
            <a:ext cx="11055096" cy="320040"/>
          </a:xfrm>
          <a:prstGeom prst="roundRect">
            <a:avLst>
              <a:gd name="adj" fmla="val 17143"/>
            </a:avLst>
          </a:prstGeom>
          <a:solidFill>
            <a:srgbClr val="F0F0F0"/>
          </a:solidFill>
          <a:ln/>
        </p:spPr>
      </p:sp>
      <p:sp>
        <p:nvSpPr>
          <p:cNvPr id="26" name="Text 24"/>
          <p:cNvSpPr/>
          <p:nvPr/>
        </p:nvSpPr>
        <p:spPr>
          <a:xfrm>
            <a:off x="660197" y="5669280"/>
            <a:ext cx="108722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AOP는 기존 코드에 손대지 않고 어느 레이어가 얼마나 걸리는지 바로 보여줍니다.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9204" y="62636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Source: STICKER 프로젝트 ExecutionTimeAspect.java (2026-05-17)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1384280" y="6263640"/>
            <a:ext cx="429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5877" y="279806"/>
            <a:ext cx="5029200" cy="245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6E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KEY LINE 3 · 아키텍처 패턴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85877" y="778154"/>
            <a:ext cx="11212373" cy="4617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5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도메인은 달랐지만 리팩토링의 결론은 매번 같았다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5877" y="1345997"/>
            <a:ext cx="11212373" cy="2770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AGV TxUtil  ·  영묘 INetworkEventLoop  ·  STICKER SmartLifecycle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85877" y="2011680"/>
            <a:ext cx="3696919" cy="3520440"/>
          </a:xfrm>
          <a:prstGeom prst="roundRect">
            <a:avLst>
              <a:gd name="adj" fmla="val 4675"/>
            </a:avLst>
          </a:prstGeom>
          <a:solidFill>
            <a:srgbClr val="FFFFFF"/>
          </a:solidFill>
          <a:ln w="12700">
            <a:solidFill>
              <a:srgbClr val="EDEE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247388" y="2011680"/>
            <a:ext cx="3696919" cy="3520440"/>
          </a:xfrm>
          <a:prstGeom prst="roundRect">
            <a:avLst>
              <a:gd name="adj" fmla="val 4675"/>
            </a:avLst>
          </a:prstGeom>
          <a:solidFill>
            <a:srgbClr val="FFFFFF"/>
          </a:solidFill>
          <a:ln w="12700">
            <a:solidFill>
              <a:srgbClr val="EDEE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108899" y="2011680"/>
            <a:ext cx="3696919" cy="3520440"/>
          </a:xfrm>
          <a:prstGeom prst="roundRect">
            <a:avLst>
              <a:gd name="adj" fmla="val 4675"/>
            </a:avLst>
          </a:prstGeom>
          <a:solidFill>
            <a:srgbClr val="FFFFFF"/>
          </a:solidFill>
          <a:ln w="12700">
            <a:solidFill>
              <a:srgbClr val="EDEE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8757" y="2212848"/>
            <a:ext cx="33284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AGV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68757" y="2487168"/>
            <a:ext cx="3328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트랜잭션 ≠ 외부 통신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8757" y="2944368"/>
            <a:ext cx="3328416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@Transactional 안에서</a:t>
            </a:r>
            <a:endParaRPr lang="en-US" sz="9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MQTT publish 바로 호출</a:t>
            </a:r>
            <a:endParaRPr lang="en-US" sz="9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DB 커밋 전에 메시지 발행</a:t>
            </a:r>
            <a:endParaRPr lang="en-US" sz="950" dirty="0"/>
          </a:p>
          <a:p>
            <a:pPr indent="0" marL="0">
              <a:lnSpc>
                <a:spcPct val="155000"/>
              </a:lnSpc>
              <a:buNone/>
            </a:pPr>
            <a:endParaRPr lang="en-US" sz="9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afterCommit() 훅으로</a:t>
            </a:r>
            <a:endParaRPr lang="en-US" sz="9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커밋 이후에만 발행하도록 해결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68757" y="4773168"/>
            <a:ext cx="3145536" cy="9144"/>
          </a:xfrm>
          <a:prstGeom prst="line">
            <a:avLst/>
          </a:prstGeom>
          <a:noFill/>
          <a:ln w="10160">
            <a:solidFill>
              <a:srgbClr val="EDEE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8757" y="4864608"/>
            <a:ext cx="3328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커밋 이후에만 외부에 알려라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47388" y="2029968"/>
            <a:ext cx="3715207" cy="3483864"/>
          </a:xfrm>
          <a:prstGeom prst="roundRect">
            <a:avLst>
              <a:gd name="adj" fmla="val 3675"/>
            </a:avLst>
          </a:prstGeom>
          <a:solidFill>
            <a:srgbClr val="F8F9FF"/>
          </a:solidFill>
          <a:ln w="17780">
            <a:solidFill>
              <a:srgbClr val="A8B7F8"/>
            </a:solidFill>
            <a:prstDash val="solid"/>
          </a:ln>
          <a:effectLst>
            <a:outerShdw sx="100000" sy="100000" kx="0" ky="0" algn="bl" rotWithShape="0" blurRad="190500" dist="50800" dir="5400000">
              <a:srgbClr val="4F6EF1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430268" y="2212848"/>
            <a:ext cx="33284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6E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영묘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430268" y="2487168"/>
            <a:ext cx="3328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4F6E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인터페이스가 먼저다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430268" y="2944368"/>
            <a:ext cx="3328416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WebSocketManager 하나에</a:t>
            </a:r>
            <a:endParaRPr lang="en-US" sz="9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연결·룸·브로드캐스트가 혼재</a:t>
            </a:r>
            <a:endParaRPr lang="en-US" sz="9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기능 추가마다 예상 못한</a:t>
            </a:r>
            <a:endParaRPr lang="en-US" sz="9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버그 발생</a:t>
            </a:r>
            <a:endParaRPr lang="en-US" sz="950" dirty="0"/>
          </a:p>
          <a:p>
            <a:pPr indent="0" marL="0">
              <a:lnSpc>
                <a:spcPct val="155000"/>
              </a:lnSpc>
              <a:buNone/>
            </a:pPr>
            <a:endParaRPr lang="en-US" sz="9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 리팩토링으로 분리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430268" y="4773168"/>
            <a:ext cx="3145536" cy="9144"/>
          </a:xfrm>
          <a:prstGeom prst="line">
            <a:avLst/>
          </a:prstGeom>
          <a:noFill/>
          <a:ln w="10160">
            <a:solidFill>
              <a:srgbClr val="EDEE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30268" y="4864608"/>
            <a:ext cx="3328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F6E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처음부터 경계를 안 잡으면 기술 부채다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91779" y="2212848"/>
            <a:ext cx="33284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STICKER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91779" y="2487168"/>
            <a:ext cx="3328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Lifecycle 제어가 신뢰다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91779" y="2944368"/>
            <a:ext cx="3328416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@PostConstruct로 스레드 시작</a:t>
            </a:r>
            <a:endParaRPr lang="en-US" sz="9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서버 종료 시점을</a:t>
            </a:r>
            <a:endParaRPr lang="en-US" sz="9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제어할 방법이 없음</a:t>
            </a:r>
            <a:endParaRPr lang="en-US" sz="950" dirty="0"/>
          </a:p>
          <a:p>
            <a:pPr indent="0" marL="0">
              <a:lnSpc>
                <a:spcPct val="155000"/>
              </a:lnSpc>
              <a:buNone/>
            </a:pPr>
            <a:endParaRPr lang="en-US" sz="9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SmartLifecycle로 교체 →</a:t>
            </a:r>
            <a:endParaRPr lang="en-US" sz="9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graceful shutdown 보장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291779" y="4773168"/>
            <a:ext cx="3145536" cy="9144"/>
          </a:xfrm>
          <a:prstGeom prst="line">
            <a:avLst/>
          </a:prstGeom>
          <a:noFill/>
          <a:ln w="10160">
            <a:solidFill>
              <a:srgbClr val="EDEE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1779" y="4864608"/>
            <a:ext cx="3328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종료 타이밍을 잡아야 메시지가 안 날아간다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68757" y="5669280"/>
            <a:ext cx="11055096" cy="320040"/>
          </a:xfrm>
          <a:prstGeom prst="roundRect">
            <a:avLst>
              <a:gd name="adj" fmla="val 17143"/>
            </a:avLst>
          </a:prstGeom>
          <a:solidFill>
            <a:srgbClr val="F0F0F0"/>
          </a:solidFill>
          <a:ln/>
        </p:spPr>
      </p:sp>
      <p:sp>
        <p:nvSpPr>
          <p:cNvPr id="25" name="Text 23"/>
          <p:cNvSpPr/>
          <p:nvPr/>
        </p:nvSpPr>
        <p:spPr>
          <a:xfrm>
            <a:off x="660197" y="5669280"/>
            <a:ext cx="108722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나중에 인터페이스를 나누는 비용은 처음부터 잡는 것의 몇 배입니다. 설계 초기에 잡아야 합니다.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84280" y="6263640"/>
            <a:ext cx="429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5877" y="279806"/>
            <a:ext cx="5029200" cy="245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6E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RESOLUTION · 기술 스택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85877" y="778154"/>
            <a:ext cx="11212373" cy="4617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5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실물 시스템과 싸우며 검증한 백엔드 기술 스택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5877" y="1345997"/>
            <a:ext cx="11212373" cy="2770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Boot · AWS · C++ · 게임 서버 · 인프라 — 도메인 무관 구조 설계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85877" y="2011680"/>
            <a:ext cx="6711696" cy="3520440"/>
          </a:xfrm>
          <a:prstGeom prst="roundRect">
            <a:avLst>
              <a:gd name="adj" fmla="val 4675"/>
            </a:avLst>
          </a:prstGeom>
          <a:solidFill>
            <a:srgbClr val="FFFFFF"/>
          </a:solidFill>
          <a:ln w="12700">
            <a:solidFill>
              <a:srgbClr val="EDEE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280453" y="2011680"/>
            <a:ext cx="4526280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12700">
            <a:solidFill>
              <a:srgbClr val="EDEE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280453" y="3840480"/>
            <a:ext cx="4526280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12700">
            <a:solidFill>
              <a:srgbClr val="EDEE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8757" y="2194560"/>
            <a:ext cx="6345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6E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Backend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8757" y="2560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Boot 3.x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017520" y="2560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Java 17/21 · Spring Security · JWT · AOP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68757" y="302666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Redis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017520" y="302666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Lettuce · Refresh Token · Cache · Pub/Sub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68757" y="34930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MQTT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017520" y="34930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Eclipse Paho · Spring Integration · State Machine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68757" y="39593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WebSocket / STOMP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017520" y="39593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STOMP Broker · Role-based Channels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68757" y="442569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A* + Yen's K-Shortest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017520" y="44256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Path Algorithm · RDP Simplifier · GraphCache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68757" y="48920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SQS / S3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017520" y="4892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Async Pipeline · SmartLifecycle Consumer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463333" y="2194560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Infra / DevOps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554773" y="248716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GitLab CI/CD · Docker Buildx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554773" y="276148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Prometheus · Grafana · Traefik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554773" y="303580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Redis distributed lock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463333" y="4023360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기타 도메인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554773" y="431596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C++17 · OpenGL · MQTT (RobotPal)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554773" y="459028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UE5 · Opus · UDP (영묘)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554773" y="486460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Python · FastAPI (STICKER AI)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68757" y="5669280"/>
            <a:ext cx="11055096" cy="320040"/>
          </a:xfrm>
          <a:prstGeom prst="roundRect">
            <a:avLst>
              <a:gd name="adj" fmla="val 17143"/>
            </a:avLst>
          </a:prstGeom>
          <a:solidFill>
            <a:srgbClr val="F0F0F0"/>
          </a:solidFill>
          <a:ln/>
        </p:spPr>
      </p:sp>
      <p:sp>
        <p:nvSpPr>
          <p:cNvPr id="30" name="Text 28"/>
          <p:cNvSpPr/>
          <p:nvPr/>
        </p:nvSpPr>
        <p:spPr>
          <a:xfrm>
            <a:off x="660197" y="5669280"/>
            <a:ext cx="108722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구조 설계가 핵심이지만, 하드웨어부터 AI 서버까지 연결하는 경험이 시야를 넓혔습니다.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84280" y="6263640"/>
            <a:ext cx="429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81E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F6EF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5200" b="1" spc="-1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구조가 명확하면</a:t>
            </a:r>
            <a:endParaRPr lang="en-US" sz="5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5200" b="1" spc="-1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기능은 따라온다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1097280" y="3611880"/>
            <a:ext cx="3017520" cy="914400"/>
          </a:xfrm>
          <a:prstGeom prst="roundRect">
            <a:avLst>
              <a:gd name="adj" fmla="val 12000"/>
            </a:avLst>
          </a:prstGeom>
          <a:solidFill>
            <a:srgbClr val="181E25">
              <a:alpha val="30000"/>
            </a:srgbClr>
          </a:solidFill>
          <a:ln w="12700">
            <a:solidFill>
              <a:srgbClr val="A8B7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370332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분석한다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40690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7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시스템이 깨지는가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17720" y="3611880"/>
            <a:ext cx="3017520" cy="914400"/>
          </a:xfrm>
          <a:prstGeom prst="roundRect">
            <a:avLst>
              <a:gd name="adj" fmla="val 12000"/>
            </a:avLst>
          </a:prstGeom>
          <a:solidFill>
            <a:srgbClr val="181E25">
              <a:alpha val="30000"/>
            </a:srgbClr>
          </a:solidFill>
          <a:ln w="12700">
            <a:solidFill>
              <a:srgbClr val="A8B7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370332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설계한다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17720" y="40690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7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인터페이스 경계부터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138160" y="3611880"/>
            <a:ext cx="3017520" cy="914400"/>
          </a:xfrm>
          <a:prstGeom prst="roundRect">
            <a:avLst>
              <a:gd name="adj" fmla="val 12000"/>
            </a:avLst>
          </a:prstGeom>
          <a:solidFill>
            <a:srgbClr val="181E25">
              <a:alpha val="30000"/>
            </a:srgbClr>
          </a:solidFill>
          <a:ln w="12700">
            <a:solidFill>
              <a:srgbClr val="A8B7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38160" y="370332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검증한다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38160" y="40690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7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데이터로, 숫자로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5303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7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yoonpyo  ·  cgantro@gmail.com  ·  GitLab: S14P11A402 / S14P21A302 / S14P31A408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384280" y="6263640"/>
            <a:ext cx="429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yoonpyo Portfolio</dc:title>
  <dc:subject>PptxGenJS Presentation</dc:subject>
  <dc:creator>yoonpyo</dc:creator>
  <cp:lastModifiedBy>yoonpyo</cp:lastModifiedBy>
  <cp:revision>1</cp:revision>
  <dcterms:created xsi:type="dcterms:W3CDTF">2026-05-27T06:01:15Z</dcterms:created>
  <dcterms:modified xsi:type="dcterms:W3CDTF">2026-05-27T06:01:15Z</dcterms:modified>
</cp:coreProperties>
</file>