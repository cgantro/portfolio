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 Worker</c:v>
                </c:pt>
              </c:strCache>
            </c:strRef>
          </c:tx>
          <c:spPr>
            <a:solidFill>
              <a:srgbClr val="A8B7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dGPU 앱 FPS</c:v>
                  </c:pt>
                  <c:pt idx="1">
                    <c:v>iGPU 앱 FPS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55.94</c:v>
                </c:pt>
                <c:pt idx="1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Multi Worker</c:v>
                </c:pt>
              </c:strCache>
            </c:strRef>
          </c:tx>
          <c:spPr>
            <a:solidFill>
              <a:srgbClr val="4F6EF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dGPU 앱 FPS</c:v>
                  </c:pt>
                  <c:pt idx="1">
                    <c:v>iGPU 앱 FPS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59.41</c:v>
                </c:pt>
                <c:pt idx="1">
                  <c:v>66.95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4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1E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6EF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97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A8B7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DEVELOPER  ·  SPRING BOOT  ·  C++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9601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정합성과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안정성을 먼저 생각하는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개발자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9377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7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yoonpyo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789920" y="5303520"/>
            <a:ext cx="822960" cy="822960"/>
          </a:xfrm>
          <a:prstGeom prst="ellipse">
            <a:avLst/>
          </a:prstGeom>
          <a:solidFill>
            <a:srgbClr val="4F6EF1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0" y="5029200"/>
            <a:ext cx="457200" cy="457200"/>
          </a:xfrm>
          <a:prstGeom prst="ellipse">
            <a:avLst/>
          </a:prstGeom>
          <a:solidFill>
            <a:srgbClr val="A8B7F8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5877" y="279806"/>
            <a:ext cx="1097280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5877" y="778154"/>
            <a:ext cx="11212373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실시간 환경에서 측정하고, 단계를 나누고, 구조로 해결했다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5877" y="1345997"/>
            <a:ext cx="11212373" cy="277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Autowing_car · RobotPal · mausoleum · STICKER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85877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247388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08899" y="2011680"/>
            <a:ext cx="3696919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04165" y="2029968"/>
            <a:ext cx="3660343" cy="3483864"/>
          </a:xfrm>
          <a:prstGeom prst="roundRect">
            <a:avLst>
              <a:gd name="adj" fmla="val 3675"/>
            </a:avLst>
          </a:prstGeom>
          <a:solidFill>
            <a:srgbClr val="F8F9FF"/>
          </a:solidFill>
          <a:ln w="17780">
            <a:solidFill>
              <a:srgbClr val="A8B7F8"/>
            </a:solidFill>
            <a:prstDash val="solid"/>
          </a:ln>
          <a:effectLst>
            <a:outerShdw sx="100000" sy="100000" kx="0" ky="0" algn="bl" rotWithShape="0" blurRad="190500" dist="50800" dir="5400000">
              <a:srgbClr val="4F6EF1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8757" y="2212848"/>
            <a:ext cx="33311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관제 상태 불일치 원인을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 전송량 90% 줄였다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8757" y="2944368"/>
            <a:ext cx="3331159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MQTT 발행이 DB 커밋 전에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나가면서 관제 상태가 오염됨.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afterCommit() 훅으로 순서 고정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write points 90% 감소 (Redis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배치화), payload 90.36% 감소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(RDP 압축).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8757" y="5102352"/>
            <a:ext cx="3331159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Autowing_car · STICKER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11980" y="2212848"/>
            <a:ext cx="33311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처리·전파·저장 단계를 나누자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부하와 지연이 함께 줄었다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11980" y="2944368"/>
            <a:ext cx="3331159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 루프와 인코딩 루프가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스레드에서 경쟁했었음.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생산자-소비자로 분리 후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환경에 따라 +6~15%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FPS 개선을 수치로 확인.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11980" y="5102352"/>
            <a:ext cx="3331159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RobotPal · Autowing_car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73491" y="2212848"/>
            <a:ext cx="33311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건드리지 않고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레이어가 느린지 찾아냈다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73491" y="2944368"/>
            <a:ext cx="3331159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AOP로 Service / Repository /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External 레이어별 응답 시간을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수집. 코드 수정 없이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구간이 느린지 Grafana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p95·p99로 확인했다.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73491" y="5102352"/>
            <a:ext cx="3331159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STICKER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F0F0F0"/>
          </a:solidFill>
          <a:ln/>
        </p:spPr>
      </p:sp>
      <p:sp>
        <p:nvSpPr>
          <p:cNvPr id="19" name="Text 17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도메인이 달라도 같은 문제가 돌아왔습니다 — 상태 정합성, 처리 단계 분리, 병목 계측.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5877" y="279806"/>
            <a:ext cx="1097280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프로젝트 01 · Autowing_car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5877" y="778154"/>
            <a:ext cx="11212373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커밋 전 MQTT 발행이 관제 상태를 오염시켰다 — 순서 고정으로 해결했다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5877" y="1345997"/>
            <a:ext cx="11212373" cy="277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· MQTT · STOMP · Redis · PostgreSQL · Docker · GitLab CI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85877" y="2011680"/>
            <a:ext cx="4526280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95037" y="2011680"/>
            <a:ext cx="6711696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8757" y="224028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8757" y="2542032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저장과 MQTT/WebSocket 이벤트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전파가 같은 흐름에 묶여 있어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관제 화면과 DB 상태가 달라지는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발생.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611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8B7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68757" y="376732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8757" y="4069080"/>
            <a:ext cx="41605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완료 전에 이벤트가 전파됨.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롤백 시에도 메시지는 이미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나간 상태 → 상태 역전.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수신마다 DB에 쓰면 쓰기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요청이 텔레메트리 빈도만큼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선형으로 증가.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113325" y="2029968"/>
            <a:ext cx="6675120" cy="1508760"/>
          </a:xfrm>
          <a:prstGeom prst="roundRect">
            <a:avLst>
              <a:gd name="adj" fmla="val 8485"/>
            </a:avLst>
          </a:prstGeom>
          <a:solidFill>
            <a:srgbClr val="F8F9FF"/>
          </a:solidFill>
          <a:ln w="17780">
            <a:solidFill>
              <a:srgbClr val="A8B7F8"/>
            </a:solidFill>
            <a:prstDash val="solid"/>
          </a:ln>
          <a:effectLst>
            <a:outerShdw sx="100000" sy="100000" kx="0" ky="0" algn="bl" rotWithShape="0" blurRad="190500" dist="50800" dir="5400000">
              <a:srgbClr val="4F6EF1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77917" y="212140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1 — 전파 순서 고정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77917" y="2404872"/>
            <a:ext cx="6309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Transaction afterCommit() 훅 적용.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커밋이 확정된 이후에만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MQTT/WebSocket으로 이벤트 발행.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277917" y="365760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2 — 쓰기 부하 감소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277917" y="393192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Redis를 쓰기 버퍼로 사용해 DB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저장을 배치화. RDP 알고리즘(경로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단순화)으로 텔레메트리 포인트 수 압축.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77917" y="4773168"/>
            <a:ext cx="3017520" cy="512064"/>
          </a:xfrm>
          <a:prstGeom prst="roundRect">
            <a:avLst>
              <a:gd name="adj" fmla="val 14286"/>
            </a:avLst>
          </a:prstGeom>
          <a:solidFill>
            <a:srgbClr val="F8F9FF"/>
          </a:solidFill>
          <a:ln w="12700">
            <a:solidFill>
              <a:srgbClr val="A8B7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77917" y="477316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Redis 배치화 후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277917" y="502920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points  −90%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69757" y="4773168"/>
            <a:ext cx="3017520" cy="512064"/>
          </a:xfrm>
          <a:prstGeom prst="roundRect">
            <a:avLst>
              <a:gd name="adj" fmla="val 14286"/>
            </a:avLst>
          </a:prstGeom>
          <a:solidFill>
            <a:srgbClr val="F8F9FF"/>
          </a:solidFill>
          <a:ln w="12700">
            <a:solidFill>
              <a:srgbClr val="A8B7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9757" y="477316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RDP 압축 후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569757" y="502920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payload bytes  −90.36%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F0F0F0"/>
          </a:solidFill>
          <a:ln/>
        </p:spPr>
      </p:sp>
      <p:sp>
        <p:nvSpPr>
          <p:cNvPr id="24" name="Text 22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커밋과 외부 이벤트 전파는 순서를 지켜야 합니다. DB가 롤백돼도 한 번 나간 메시지는 되돌아오지 않습니다.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9204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Source: Autowing_car — afterCommit() 적용 커밋 (2026-02)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5877" y="279806"/>
            <a:ext cx="1097280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프로젝트 01 · Autowing_car — 인증 설계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5877" y="778154"/>
            <a:ext cx="11212373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WebSocket은 헤더를 못 써서 토큰이 URL에 드러난다 — 전용 1분 토큰으로 노출 시간을 줄였다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5877" y="1345997"/>
            <a:ext cx="11212373" cy="277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3종 분리 · Spring Security · Redis Refresh Token Rotation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85877" y="2011680"/>
            <a:ext cx="11420856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60197" y="2377440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ACCESS TOKEN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60197" y="2743200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F0F0F0"/>
          </a:solidFill>
          <a:ln w="12700">
            <a:solidFill>
              <a:srgbClr val="EDEE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0197" y="2743200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60197" y="306324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API 요청 인증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60197" y="3401568"/>
            <a:ext cx="3429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API는 Authorization 헤더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가능 → 표준 방식으로 충분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17797" y="2212848"/>
            <a:ext cx="3611880" cy="3063240"/>
          </a:xfrm>
          <a:prstGeom prst="roundRect">
            <a:avLst>
              <a:gd name="adj" fmla="val 4179"/>
            </a:avLst>
          </a:prstGeom>
          <a:solidFill>
            <a:srgbClr val="F8F9FF"/>
          </a:solidFill>
          <a:ln w="17780">
            <a:solidFill>
              <a:srgbClr val="A8B7F8"/>
            </a:solidFill>
            <a:prstDash val="solid"/>
          </a:ln>
          <a:effectLst>
            <a:outerShdw sx="100000" sy="100000" kx="0" ky="0" algn="bl" rotWithShape="0" blurRad="190500" dist="50800" dir="5400000">
              <a:srgbClr val="4F6EF1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09237" y="2377440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14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SOCKET TOKEN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09237" y="2743200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F8F9FF"/>
          </a:solidFill>
          <a:ln w="12700">
            <a:solidFill>
              <a:srgbClr val="A8B7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09237" y="2743200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4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09237" y="306324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연결 1회 전용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9237" y="3401568"/>
            <a:ext cx="3429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핸드셰이크는 커스텀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불가 → 토큰을 URL 파라미터에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포함해야 함 → 노출 시간을 1분으로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제한해 탈취 피해 범위를 줄임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158277" y="2377440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 TOKEN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58277" y="2743200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F0F0F0"/>
          </a:solidFill>
          <a:ln w="12700">
            <a:solidFill>
              <a:srgbClr val="EDEE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58277" y="2743200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158277" y="306324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갱신 전용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158277" y="3401568"/>
            <a:ext cx="3429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유효 → DB 대신 Redis에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TTL로 저장. 이미 사용된 토큰이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들어오면 해당 계정 전체</a:t>
            </a:r>
            <a:endParaRPr lang="en-US" sz="9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세션을 무효화하는 로직 구현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0197" y="4919472"/>
            <a:ext cx="10872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시 3종 토큰 동시 발급  ·  SOCKET 토큰은 WebSocket 연결 1회에만 사용, 이후 폐기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F0F0F0"/>
          </a:solidFill>
          <a:ln/>
        </p:spPr>
      </p:sp>
      <p:sp>
        <p:nvSpPr>
          <p:cNvPr id="24" name="Text 22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WebSocket은 토큰을 URL에 실어야 하는 구조입니다. 수명을 1분으로 제한해 탈취 시 피해 범위를 줄였습니다.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9204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Source: Autowing_car — JWT 토큰 설계 커밋 (2026-01)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5877" y="279806"/>
            <a:ext cx="1097280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프로젝트 02 · RobotPal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5877" y="778154"/>
            <a:ext cx="11212373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렌더와 인코딩을 분리하자 GPU 환경에 따라 앱 FPS +6~15% 개선을 수치로 확인했다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5877" y="1345997"/>
            <a:ext cx="11212373" cy="277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C++17 · OpenGL · libjpeg · 생산자-소비자 패턴 · 벤치마킹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85877" y="2011680"/>
            <a:ext cx="6711696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80453" y="2011680"/>
            <a:ext cx="4526280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8757" y="2194560"/>
            <a:ext cx="6345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싱글 vs 멀티 워커 FPS 비교 (816×616, JPEG Q70, 디버그 빌드)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68757" y="2487168"/>
          <a:ext cx="6345936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68757" y="5120640"/>
            <a:ext cx="6345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dGPU: 55.94 → 59.41 (+6.20%)  ·  iGPU: 58.10 → 66.95 (+15.24%)  ·  릴리즈 빌드 별도 미측정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463333" y="224028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→ 해결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463333" y="2688336"/>
            <a:ext cx="118872" cy="118872"/>
          </a:xfrm>
          <a:prstGeom prst="ellipse">
            <a:avLst/>
          </a:prstGeom>
          <a:solidFill>
            <a:srgbClr val="45515E"/>
          </a:solidFill>
          <a:ln/>
        </p:spPr>
      </p:sp>
      <p:sp>
        <p:nvSpPr>
          <p:cNvPr id="12" name="Text 9"/>
          <p:cNvSpPr/>
          <p:nvPr/>
        </p:nvSpPr>
        <p:spPr>
          <a:xfrm>
            <a:off x="7616952" y="262432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 루프와 인코딩이 경쟁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616952" y="28803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작업이 메인 루프 FPS를 점유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463333" y="3383280"/>
            <a:ext cx="118872" cy="118872"/>
          </a:xfrm>
          <a:prstGeom prst="ellipse">
            <a:avLst/>
          </a:prstGeom>
          <a:solidFill>
            <a:srgbClr val="4F6EF1"/>
          </a:solidFill>
          <a:ln/>
        </p:spPr>
      </p:sp>
      <p:sp>
        <p:nvSpPr>
          <p:cNvPr id="15" name="Text 12"/>
          <p:cNvSpPr/>
          <p:nvPr/>
        </p:nvSpPr>
        <p:spPr>
          <a:xfrm>
            <a:off x="7616952" y="331927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생산자-소비자로 루프 분리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616952" y="3575304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렌더와 인코딩이 서로 방해하지 않음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463333" y="4078224"/>
            <a:ext cx="118872" cy="118872"/>
          </a:xfrm>
          <a:prstGeom prst="ellipse">
            <a:avLst/>
          </a:prstGeom>
          <a:solidFill>
            <a:srgbClr val="4F6EF1"/>
          </a:solidFill>
          <a:ln/>
        </p:spPr>
      </p:sp>
      <p:sp>
        <p:nvSpPr>
          <p:cNvPr id="18" name="Text 15"/>
          <p:cNvSpPr/>
          <p:nvPr/>
        </p:nvSpPr>
        <p:spPr>
          <a:xfrm>
            <a:off x="7616952" y="401421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워커로 인코딩 분산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616952" y="42702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부하를 워커에 나눔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63333" y="4773168"/>
            <a:ext cx="118872" cy="118872"/>
          </a:xfrm>
          <a:prstGeom prst="ellipse">
            <a:avLst/>
          </a:prstGeom>
          <a:solidFill>
            <a:srgbClr val="4F6EF1"/>
          </a:solidFill>
          <a:ln/>
        </p:spPr>
      </p:sp>
      <p:sp>
        <p:nvSpPr>
          <p:cNvPr id="21" name="Text 18"/>
          <p:cNvSpPr/>
          <p:nvPr/>
        </p:nvSpPr>
        <p:spPr>
          <a:xfrm>
            <a:off x="7616952" y="47091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iGPU 환경에서 더 큰 개선 확인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616952" y="496519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외장 GPU 없는 환경일수록 효과 컸음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F0F0F0"/>
          </a:solidFill>
          <a:ln/>
        </p:spPr>
      </p:sp>
      <p:sp>
        <p:nvSpPr>
          <p:cNvPr id="24" name="Text 21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렌더링 자체가 느린 게 아니었습니다. 렌더와 인코딩이 같은 루프에서 서로 기다리는 구조가 문제였습니다.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89204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Source: RobotPal 병목분석.md — 디버그 빌드 b01af42, 릴리즈 빌드 미측정 (2026-04-09)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5877" y="279806"/>
            <a:ext cx="1097280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프로젝트 03 · mausoleum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5877" y="778154"/>
            <a:ext cx="11212373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Alt-Tab 복귀 후 쌓인 음성이 한꺼번에 재생되는 문제, 버퍼 폐기로 해결했다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5877" y="1345997"/>
            <a:ext cx="11212373" cy="277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5 · C++ · 전용 서버 · UDP 음성 서버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85877" y="2011680"/>
            <a:ext cx="4526280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95037" y="2011680"/>
            <a:ext cx="6711696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8757" y="224028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8757" y="2542032"/>
            <a:ext cx="4160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Alt-Tab 복귀 직후 대기 중 누적된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버퍼가 한꺼번에 재생 →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잡음 섞인 음성이 한꺼번에 쏟아짐.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8757" y="361188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해결한 문제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8757" y="3895344"/>
            <a:ext cx="4160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사망자/생존자/관전자 청취 권한 미분리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사망 후에도 생존자 정보 노출.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세션 생명주기를 대기/인게임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단계로 분리 → 상태 충돌 감소.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113325" y="2029968"/>
            <a:ext cx="6675120" cy="1463040"/>
          </a:xfrm>
          <a:prstGeom prst="roundRect">
            <a:avLst>
              <a:gd name="adj" fmla="val 8750"/>
            </a:avLst>
          </a:prstGeom>
          <a:solidFill>
            <a:srgbClr val="F8F9FF"/>
          </a:solidFill>
          <a:ln w="17780">
            <a:solidFill>
              <a:srgbClr val="A8B7F8"/>
            </a:solidFill>
            <a:prstDash val="solid"/>
          </a:ln>
          <a:effectLst>
            <a:outerShdw sx="100000" sy="100000" kx="0" ky="0" algn="bl" rotWithShape="0" blurRad="190500" dist="50800" dir="5400000">
              <a:srgbClr val="4F6EF1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77917" y="212140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1 — 버퍼 폐기 + 코덱 리셋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77917" y="2404872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복귀 시 누적된 캡처 버퍼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+ 코덱 리셋 → 복귀 직후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한꺼번에 재생되는 현상 제거.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77917" y="365760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2 — 상태별 청취 규칙 분리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277917" y="393192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생존/사망/관전 상태에 따라 수신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 음성 채널을 별도 분리 →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사망자 정보 노출 완화.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77917" y="468172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3 — 룸 코드 기반 세션 격리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277917" y="4965192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 단위로 이벤트·음성 경로를 격리해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방 세션과의 간섭 차단.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F0F0F0"/>
          </a:solidFill>
          <a:ln/>
        </p:spPr>
      </p:sp>
      <p:sp>
        <p:nvSpPr>
          <p:cNvPr id="19" name="Text 17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 쌓인 버퍼를 그대로 재생하면 사용자가 가장 먼저 체감합니다. 복귀 시 폐기가 기본값이어야 합니다.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9204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Source: mausoleum — VoiceCapture 코덱 리셋 커밋 (2026-03)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5877" y="279806"/>
            <a:ext cx="1097280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프로젝트 04 · STICKER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5877" y="778154"/>
            <a:ext cx="11212373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SQS 소비기에 graceful shutdown과 재처리 불가 메시지 차단을 함께 구현했다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5877" y="1345997"/>
            <a:ext cx="11212373" cy="277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 · Java 21 가상 스레드 · AWS SQS/S3 · Micrometer · Prometheus · Grafana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85877" y="2011680"/>
            <a:ext cx="11420856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8757" y="2304288"/>
            <a:ext cx="10872216" cy="420624"/>
          </a:xfrm>
          <a:prstGeom prst="roundRect">
            <a:avLst>
              <a:gd name="adj" fmla="val 15217"/>
            </a:avLst>
          </a:prstGeom>
          <a:solidFill>
            <a:srgbClr val="F2F3F5"/>
          </a:solidFill>
          <a:ln w="12700">
            <a:solidFill>
              <a:srgbClr val="EDEE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1637" y="230428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Job 발행기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88997" y="2304288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Redis 원자적 락으로 동시 중복 발행 차단 → SQS에 AI 추천 요청 전달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8757" y="2834640"/>
            <a:ext cx="10872216" cy="420624"/>
          </a:xfrm>
          <a:prstGeom prst="roundRect">
            <a:avLst>
              <a:gd name="adj" fmla="val 15217"/>
            </a:avLst>
          </a:prstGeom>
          <a:solidFill>
            <a:srgbClr val="F8F9FF"/>
          </a:solidFill>
          <a:ln w="12700">
            <a:solidFill>
              <a:srgbClr val="A8B7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1637" y="283464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SQS 소비기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488997" y="2834640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SmartLifecycle 구현: 서버 종료 시 루프 중단 대기 후 안전 종료 → 메시지 유실 없음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8757" y="3364992"/>
            <a:ext cx="10872216" cy="420624"/>
          </a:xfrm>
          <a:prstGeom prst="roundRect">
            <a:avLst>
              <a:gd name="adj" fmla="val 15217"/>
            </a:avLst>
          </a:prstGeom>
          <a:solidFill>
            <a:srgbClr val="F8F9FF"/>
          </a:solidFill>
          <a:ln w="12700">
            <a:solidFill>
              <a:srgbClr val="A8B7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1637" y="33649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처리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88997" y="3364992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포맷 위반 메시지: 즉시 삭제(재시도해도 안 됨) · 일시 장애: 삭제 보류 → SQS 자동 재처리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8757" y="3895344"/>
            <a:ext cx="10872216" cy="420624"/>
          </a:xfrm>
          <a:prstGeom prst="roundRect">
            <a:avLst>
              <a:gd name="adj" fmla="val 15217"/>
            </a:avLst>
          </a:prstGeom>
          <a:solidFill>
            <a:srgbClr val="F2F3F5"/>
          </a:solidFill>
          <a:ln w="12700">
            <a:solidFill>
              <a:srgbClr val="EDEE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1637" y="389534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방지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488997" y="3895344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SQS는 같은 메시지를 두 번 전달할 수 있음 → Redis에 jobId 기록해 중복 처리 차단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8757" y="4425696"/>
            <a:ext cx="10872216" cy="420624"/>
          </a:xfrm>
          <a:prstGeom prst="roundRect">
            <a:avLst>
              <a:gd name="adj" fmla="val 15217"/>
            </a:avLst>
          </a:prstGeom>
          <a:solidFill>
            <a:srgbClr val="F2F3F5"/>
          </a:solidFill>
          <a:ln w="12700">
            <a:solidFill>
              <a:srgbClr val="EDEE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1637" y="442569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AOP 계측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488997" y="442569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Service/Repository/External 레이어별 응답 시간 자동 수집 · p95·p99 Grafana 시각화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F0F0F0"/>
          </a:solidFill>
          <a:ln/>
        </p:spPr>
      </p:sp>
      <p:sp>
        <p:nvSpPr>
          <p:cNvPr id="22" name="Text 20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SQS는 같은 메시지를 두 번 이상 전달할 수 있습니다. 언제 삭제하고 언제 보류할지 오류 분류가 핵심입니다.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9204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Source: STICKER — SmartLifecycle · ExecutionTimeAspect.java (2026-05-17)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5877" y="279806"/>
            <a:ext cx="1097280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OTHER PROJECTS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5877" y="778154"/>
            <a:ext cx="11212373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SSAFY BOB과 코리안스낵샵에서 MCP 서버 구조와 Spring 인증 흐름을 직접 구현했다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5877" y="1345997"/>
            <a:ext cx="11212373" cy="277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FastMCP · Smithery · Spring Boot · AWS RDS · JWT · Google OAuth2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85877" y="2011680"/>
            <a:ext cx="5618988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87745" y="2011680"/>
            <a:ext cx="5618988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8757" y="2212848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SSAFY BOB  ·  MCP 서버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8757" y="2523744"/>
            <a:ext cx="52532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· FastMCP · Smithery · uv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8757" y="2816352"/>
            <a:ext cx="5070348" cy="9144"/>
          </a:xfrm>
          <a:prstGeom prst="line">
            <a:avLst/>
          </a:prstGeom>
          <a:noFill/>
          <a:ln w="10160">
            <a:solidFill>
              <a:srgbClr val="EDEE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8757" y="2907792"/>
            <a:ext cx="5253228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에이전트가 SSAFY 식단 정보를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조회할 수 있는 MCP 서버 개발.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@mcp.tool로 도구 등록. 자연어에서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날짜·층수 파라미터를 추출하도록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Pydantic 입력 스키마 정의.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시점에 외부 JSON을 페칭하는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stateless 구조. Smithery 배포.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70625" y="2212848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코리안스낵샵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70625" y="2523744"/>
            <a:ext cx="52532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17 · Spring Boot · AWS RDS · MySQL · JWT · Google OAuth2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370625" y="2816352"/>
            <a:ext cx="5070348" cy="9144"/>
          </a:xfrm>
          <a:prstGeom prst="line">
            <a:avLst/>
          </a:prstGeom>
          <a:noFill/>
          <a:ln w="10160">
            <a:solidFill>
              <a:srgbClr val="EDEE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0625" y="2907792"/>
            <a:ext cx="5253228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대상 한국 간식 소개 플랫폼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백엔드.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+ Spring Security로 회원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구현. Google OAuth2 소셜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연동. AWS RDS MySQL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구축 및 EC2 배포.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F0F0F0"/>
          </a:solidFill>
          <a:ln/>
        </p:spPr>
      </p:sp>
      <p:sp>
        <p:nvSpPr>
          <p:cNvPr id="16" name="Text 14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MCP와 OAuth2 모두 외부 시스템과 연결하는 인터페이스 경계를 어떻게 정의하느냐가 핵심이었습니다.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5877" y="279806"/>
            <a:ext cx="1097280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5877" y="778154"/>
            <a:ext cx="11212373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프로젝트에서 직접 사용하며 검증한 기술 스택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5877" y="1345997"/>
            <a:ext cx="11212373" cy="277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· AWS · C++ · UE5 · 인프라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85877" y="2011680"/>
            <a:ext cx="6711696" cy="352044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80453" y="2011680"/>
            <a:ext cx="452628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280453" y="3840480"/>
            <a:ext cx="452628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EDEE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8757" y="2194560"/>
            <a:ext cx="6345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E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Backend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8757" y="25603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3.x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00400" y="2560320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17/21 · Spring Security · JWT · AOP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68757" y="3026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Redis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0" y="3026664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 Token · 쓰기 버퍼 · 분산 락 · 중복 방지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8757" y="34930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MQTT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00400" y="3493008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Eclipse Paho · 토픽별 텔레메트리/명령 경로 분리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68757" y="395935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/ STOMP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0" y="39593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 Broker · 역할 기반 채널 · 1분 핸드셰이크 토큰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8757" y="442569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SQS / S3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00400" y="4425696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AI 파이프라인 · SmartLifecycle 소비기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68757" y="4892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0" y="4892040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 이력 저장 · Redis 배치 후 적재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463333" y="219456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Infra / DevOps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554773" y="248716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GitLab CI/CD · Docker Buildx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554773" y="2779776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Prometheus · Grafana · Traefik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554773" y="307238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Micrometer AOP · p95/p99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463333" y="402336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 도메인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54773" y="431596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C++17 · OpenGL · libjpeg (RobotPal)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554773" y="4608576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UE5 · C++ · UDP (mausoleum)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554773" y="490118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Python · FastMCP · Smithery (BOB)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8757" y="5669280"/>
            <a:ext cx="11055096" cy="320040"/>
          </a:xfrm>
          <a:prstGeom prst="roundRect">
            <a:avLst>
              <a:gd name="adj" fmla="val 17143"/>
            </a:avLst>
          </a:prstGeom>
          <a:solidFill>
            <a:srgbClr val="F0F0F0"/>
          </a:solidFill>
          <a:ln/>
        </p:spPr>
      </p:sp>
      <p:sp>
        <p:nvSpPr>
          <p:cNvPr id="30" name="Text 28"/>
          <p:cNvSpPr/>
          <p:nvPr/>
        </p:nvSpPr>
        <p:spPr>
          <a:xfrm>
            <a:off x="660197" y="5669280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구조 설계가 중심이지만, 하드웨어 연동부터 AI 서버 연결까지 직접 다뤄보며 시야를 넓혔습니다.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81E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6EF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6304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정합성과</a:t>
            </a:r>
            <a:endParaRPr lang="en-US" sz="4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안정성을 먼저 생각하는</a:t>
            </a:r>
            <a:endParaRPr lang="en-US" sz="4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개발자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3611880"/>
            <a:ext cx="3017520" cy="1005840"/>
          </a:xfrm>
          <a:prstGeom prst="roundRect">
            <a:avLst>
              <a:gd name="adj" fmla="val 10909"/>
            </a:avLst>
          </a:prstGeom>
          <a:solidFill>
            <a:srgbClr val="181E25">
              <a:alpha val="30000"/>
            </a:srgbClr>
          </a:solidFill>
          <a:ln w="12700">
            <a:solidFill>
              <a:srgbClr val="A8B7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7033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계측한다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B7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레이어가 얼마나 걸리는가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434840" y="3611880"/>
            <a:ext cx="3017520" cy="1005840"/>
          </a:xfrm>
          <a:prstGeom prst="roundRect">
            <a:avLst>
              <a:gd name="adj" fmla="val 10909"/>
            </a:avLst>
          </a:prstGeom>
          <a:solidFill>
            <a:srgbClr val="181E25">
              <a:alpha val="30000"/>
            </a:srgbClr>
          </a:solidFill>
          <a:ln w="12700">
            <a:solidFill>
              <a:srgbClr val="A8B7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840" y="37033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단계를 나눈다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34840" y="41148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B7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처리·전파·저장 순서부터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955280" y="3611880"/>
            <a:ext cx="3017520" cy="1005840"/>
          </a:xfrm>
          <a:prstGeom prst="roundRect">
            <a:avLst>
              <a:gd name="adj" fmla="val 10909"/>
            </a:avLst>
          </a:prstGeom>
          <a:solidFill>
            <a:srgbClr val="181E25">
              <a:alpha val="30000"/>
            </a:srgbClr>
          </a:solidFill>
          <a:ln w="12700">
            <a:solidFill>
              <a:srgbClr val="A8B7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0" y="37033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신뢰성을 높인다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955280" y="41148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B7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 고정, 중복 방지, 안전 종료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7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yoonpyo  ·  cgantro@gmail.com  ·  광운대학교  ·  정보처리기사  ·  OPIc IH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263640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yoonpyo Portfolio</dc:title>
  <dc:subject>PptxGenJS Presentation</dc:subject>
  <dc:creator>yoonpyo</dc:creator>
  <cp:lastModifiedBy>yoonpyo</cp:lastModifiedBy>
  <cp:revision>1</cp:revision>
  <dcterms:created xsi:type="dcterms:W3CDTF">2026-05-28T00:17:53Z</dcterms:created>
  <dcterms:modified xsi:type="dcterms:W3CDTF">2026-05-28T00:17:53Z</dcterms:modified>
</cp:coreProperties>
</file>