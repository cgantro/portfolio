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Worker</c:v>
                </c:pt>
              </c:strCache>
            </c:strRef>
          </c:tx>
          <c:spPr>
            <a:solidFill>
              <a:srgbClr val="A8B7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dGPU 앱 FPS</c:v>
                </c:pt>
                <c:pt idx="1">
                  <c:v>iGPU 앱 FPS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55.94</c:v>
                </c:pt>
                <c:pt idx="1">
                  <c:v>58.1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96-421E-8D68-77B6A76094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 Workers</c:v>
                </c:pt>
              </c:strCache>
            </c:strRef>
          </c:tx>
          <c:spPr>
            <a:solidFill>
              <a:srgbClr val="4F6E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dGPU 앱 FPS</c:v>
                </c:pt>
                <c:pt idx="1">
                  <c:v>iGPU 앱 FPS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59.41</c:v>
                </c:pt>
                <c:pt idx="1">
                  <c:v>66.95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96-421E-8D68-77B6A76094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4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7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6E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97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 ·  C++ SYSTEMS  ·  DEVOPS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구현보다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문제를 분석하고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구조적으로 해결합니다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yoonpyo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89920" y="5303520"/>
            <a:ext cx="822960" cy="822960"/>
          </a:xfrm>
          <a:prstGeom prst="ellipse">
            <a:avLst/>
          </a:prstGeom>
          <a:solidFill>
            <a:srgbClr val="4F6EF1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5029200"/>
            <a:ext cx="457200" cy="457200"/>
          </a:xfrm>
          <a:prstGeom prst="ellipse">
            <a:avLst/>
          </a:prstGeom>
          <a:solidFill>
            <a:srgbClr val="A8B7F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계측하고, 분리하고, 정합성을 지켰다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RobotPal · 영묘 (Mausoleum) · STICKER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47388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8899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4165" y="2029968"/>
            <a:ext cx="3660343" cy="3483864"/>
          </a:xfrm>
          <a:prstGeom prst="roundRect">
            <a:avLst>
              <a:gd name="adj" fmla="val 3675"/>
            </a:avLst>
          </a:prstGeom>
          <a:solidFill>
            <a:srgbClr val="F8F9FF"/>
          </a:solidFill>
          <a:ln w="17780">
            <a:solidFill>
              <a:srgbClr val="A8B7F8"/>
            </a:solidFill>
            <a:prstDash val="solid"/>
          </a:ln>
          <a:effectLst>
            <a:outerShdw blurRad="190500" dist="50800" dir="5400000" algn="bl" rotWithShape="0">
              <a:srgbClr val="4F6EF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8757" y="2176272"/>
            <a:ext cx="333115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프레임 밀림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(지연 누적)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8757" y="2816352"/>
            <a:ext cx="333115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인코딩과 소켓 전송이 같은 스레드에서 순서대로 실행되었습니다. 큰 프레임을 인코딩하는 동안 다음 프레임 전송이 밀려나고, 그 지연이 계속 누적되어 스트리밍이 버벅거렸습니다.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8757" y="3785616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생산자-소비자 구조로 분리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dGPU +6.20% · iGPU +15.24% FPS 향상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8757" y="5102352"/>
            <a:ext cx="333115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RobotPal  ·  C++17 · libjpeg-turbo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11980" y="2176272"/>
            <a:ext cx="333115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디바이스 null —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 전혀 전송 안 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1980" y="2816352"/>
            <a:ext cx="333115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마이크의 표시 이름을 그대로 UE5 캡처 API에 전달했더니 null을 반환했습니다. 내부에서 DirectSound 디바이스 ID와 매칭을 시도하는데, Friendly Name은 매칭에 실패합니다.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1980" y="3602736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빈 문자열 전달 → OS 기본 장치 자동 매칭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IListenStrategy로 생존자·영혼 청취 규칙 분리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11980" y="5102352"/>
            <a:ext cx="333115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영묘 (Mausoleum)  ·  UE5 · UDP · Opus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73491" y="2176272"/>
            <a:ext cx="333115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커밋 전 SQS 발행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 불일치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3491" y="2816352"/>
            <a:ext cx="333115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안에서 SQS 메시지를 발행했더니 DB가 롤백되어도 메시지는 이미 큐에 들어간 상태가 됩니다. AI 서버가 메시지를 소비해 DB에 없는 데이터를 참조하면서 오류가 발생했습니다.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73491" y="3602736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afterCommit() 훅 — DB 커밋 후에만 발행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상태와 메시지 큐 상태의 일관성 보장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73491" y="5102352"/>
            <a:ext cx="333115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STICKER  ·  Spring Boot · SQS · Redis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도메인이 달라도 같은 구조적 결함이 반복됩니다 — 같은 스레드에서 경쟁하거나, 순서를 지키지 않거나, 상태가 분리되지 않거나.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프로젝트 01 · RobotPal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로봇팔 시뮬레이션 &amp; 실시간 스트리밍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C++17 · Emscripten · libjpeg-turbo · TCP/WebSocket · ImGui · CMake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452628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9503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7" y="224028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2025.11 – 2026.04  ·  2인 (엔진 + 스트리밍)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8757" y="250545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제어 아키텍처 및 네트워크 엔진 설계 · 성능 최적화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8757" y="2816352"/>
            <a:ext cx="3977640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7" y="288950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8757" y="316382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제어 시스템 다형성 설계 및 네트워크 엔진 구축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8757" y="35478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스트리밍 파이프라인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8757" y="39319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GPU 비동기 Readback (PBO)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8757" y="431596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멀티 스레드 JPEG 인코딩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8757" y="470001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웹 빌드 (Emscripten)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96205" y="22128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파이프라인 아키텍처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3657" y="2615184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57" y="270662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 Thread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3657" y="29992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FPS 렌더 루프 보장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93385" y="3255264"/>
            <a:ext cx="1563624" cy="9144"/>
          </a:xfrm>
          <a:prstGeom prst="line">
            <a:avLst/>
          </a:prstGeom>
          <a:noFill/>
          <a:ln w="8890">
            <a:solidFill>
              <a:srgbClr val="DDE3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5097" y="332841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PBO 더블버퍼</a:t>
            </a:r>
            <a:endParaRPr lang="en-US" sz="8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glReadPixels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66737" y="312724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59345" y="2615184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F2F3F5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9345" y="270662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Concurrent Queue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59345" y="29992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Non-blocking 버퍼링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69073" y="3255264"/>
            <a:ext cx="1563624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50785" y="332841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 Queue →</a:t>
            </a:r>
            <a:endParaRPr lang="en-US" sz="8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 Queue 분리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342425" y="312724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35033" y="2615184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35033" y="270662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Workers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635033" y="29992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Send/Recv 독립 I/O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744761" y="3255264"/>
            <a:ext cx="1563624" cy="9144"/>
          </a:xfrm>
          <a:prstGeom prst="line">
            <a:avLst/>
          </a:prstGeom>
          <a:noFill/>
          <a:ln w="8890">
            <a:solidFill>
              <a:srgbClr val="DDE3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6473" y="332841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Workers</a:t>
            </a:r>
            <a:endParaRPr lang="en-US" sz="8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libjpeg-turbo 병렬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96205" y="4160520"/>
            <a:ext cx="6309360" cy="1280160"/>
          </a:xfrm>
          <a:prstGeom prst="roundRect">
            <a:avLst>
              <a:gd name="adj" fmla="val 5714"/>
            </a:avLst>
          </a:prstGeom>
          <a:solidFill>
            <a:srgbClr val="F2F3F5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0797" y="42336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PBO Ping-Pong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60797" y="450799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픽셀 버퍼를 번갈아 사용해 이번 프레임 쓰기와 이전 프레임 읽기를 동시에 진행. CPU가 GPU 작업 완료를 기다리지 않아도 되므로 렌더 루프가 블로킹되지 않음.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96605" y="42336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Emscripten 웹 빌드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96605" y="450799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C++ OpenGL 코드를 재작성 없이 WebAssembly로 크로스컴파일. COI Service Worker로 COOP/COEP 헤더 삽입 → SharedArrayBuffer 활성화 → 웹에서 12 워커 동작.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40" name="Text 38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렌더 루프에서 출발해 인코딩·전송을 분리하고, WASM 크로스컴파일로 브라우저까지 배포하는 전체 파이프라인을 직접 설계했습니다.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RobotPal — C++17 · libjpeg-turbo · Emscripten WASM (2025.11 – 2026.04)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프로젝트 01 · RobotPal — 문제 해결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렌더와 인코딩이 경쟁 중이었다 — 분리하자 iGPU 환경에서 +15.24% FPS 향상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생산자-소비자 패턴 · PBO 더블버퍼 · libjpeg-turbo 워커 풀 · 1~19 워커 실측 벤치마킹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80453" y="2011680"/>
            <a:ext cx="452628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7" y="2194560"/>
            <a:ext cx="6345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싱글 vs 멀티 워커 FPS 비교 (816×616, JPEG Q70, 디버그 빌드)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68757" y="2487168"/>
          <a:ext cx="6345936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68757" y="5047488"/>
            <a:ext cx="6345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dGPU: 55.94 → 59.41 (+6.20%)  ·  iGPU: 58.10 → 66.95 (+15.24%)  ·  릴리즈 빌드 별도 미측정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63333" y="21945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glReadPixels 렌더 루프 블로킹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63333" y="2487168"/>
            <a:ext cx="4160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고해상도(816×616)에서 glReadPixels를 호출하면 GPU 렌더 완료까지 CPU가 멈춰 대기합니다. 렌더 루프가 이 구간에서 매 프레임 블로킹되어 FPS가 크게 하락했습니다.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63333" y="310896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PBO 더블 버퍼 ping-pong 구조로 전환했습니다. CPU는 이미 완료된 이전 프레임 데이터를 읽고, GPU에는 비동기 쓰기만 발행합니다.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63333" y="3621024"/>
            <a:ext cx="4160520" cy="237744"/>
          </a:xfrm>
          <a:prstGeom prst="roundRect">
            <a:avLst>
              <a:gd name="adj" fmla="val 19231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54773" y="362102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CPU-GPU 동기화 압력 감소, 렌더 루프 스톨 빈도 저하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463333" y="3931920"/>
            <a:ext cx="4160520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63333" y="400507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프레임 밀림 (지연 누적)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63333" y="4297680"/>
            <a:ext cx="4160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인코딩과 소켓 전송이 같은 스레드에서 순서대로 실행되었습니다. 큰 프레임을 인코딩하는 동안 다음 프레임 전송이 밀려나고, 그 지연이 계속 누적되어 스트리밍이 버벅거렸습니다.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63333" y="49194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인코딩이 끝난 데이터를 큐에 넣으면 전송 스레드가 독립적으로 소비하는 생산자-소비자 구조로 전환했습니다.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63333" y="5321808"/>
            <a:ext cx="4160520" cy="237744"/>
          </a:xfrm>
          <a:prstGeom prst="roundRect">
            <a:avLst>
              <a:gd name="adj" fmla="val 19231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4773" y="532180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밀림 해소, 스트리밍 FPS 안정화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22" name="Text 19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 자체가 느린 게 아니었습니다. 렌더와 인코딩이 같은 루프에서 서로 기다리는 구조가 문제였습니다.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RobotPal 병목분석.md — 디버그 빌드 b01af42, 릴리즈 빌드 미측정 (2026-04-09)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프로젝트 02 · 영묘 (Mausoleum)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UE5 멀티플레이어 던전 탈출 게임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Unreal Engine 5 (C++) · C++ GameServer · uWebSockets · UDP · Opus · HRTF · Docker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452628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9503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7" y="224028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2026.02 – 2026.03  ·  6인 (UE5 클라이언트 + C++ 서버 + 인프라)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8757" y="250545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 채팅 클라이언트 &amp; 서버 · 게임 서버 구조 개선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8757" y="2816352"/>
            <a:ext cx="3977640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7" y="288950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8757" y="316382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보이스 채팅 클라이언트 (UE5 C++)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8757" y="35478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보이스 채팅 서버 (C++)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8757" y="39319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생사 분리 전략 패턴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8757" y="431596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C++ 게임 서버 구조 개선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8757" y="470001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페이즈 시스템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96205" y="22128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 채팅 아키텍처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97957" y="2615184"/>
            <a:ext cx="1261872" cy="1417320"/>
          </a:xfrm>
          <a:prstGeom prst="roundRect">
            <a:avLst>
              <a:gd name="adj" fmla="val 7246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7957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VoiceCapture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7957" y="299923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버퍼 획득 (RawData)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89397" y="3255264"/>
            <a:ext cx="1078992" cy="9144"/>
          </a:xfrm>
          <a:prstGeom prst="line">
            <a:avLst/>
          </a:prstGeom>
          <a:noFill/>
          <a:ln w="8890">
            <a:solidFill>
              <a:srgbClr val="DDE3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2821" y="3328416"/>
            <a:ext cx="115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 16kHz·20ms·24kbps</a:t>
            </a:r>
            <a:endParaRPr lang="en-US" sz="8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FEC / DTX 활성화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9829" y="312724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79285" y="2615184"/>
            <a:ext cx="1261872" cy="1417320"/>
          </a:xfrm>
          <a:prstGeom prst="roundRect">
            <a:avLst>
              <a:gd name="adj" fmla="val 7246"/>
            </a:avLst>
          </a:prstGeom>
          <a:solidFill>
            <a:srgbClr val="F2F3F5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9285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 Codec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79285" y="299923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FEC/DTX 내장 인코딩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70725" y="3255264"/>
            <a:ext cx="1078992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4149" y="3328416"/>
            <a:ext cx="115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화자별 독립 코덱 인스턴스</a:t>
            </a:r>
            <a:endParaRPr lang="en-US" sz="8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디코드 상태 간섭 방지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41157" y="312724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60613" y="2615184"/>
            <a:ext cx="1261872" cy="1417320"/>
          </a:xfrm>
          <a:prstGeom prst="roundRect">
            <a:avLst>
              <a:gd name="adj" fmla="val 7246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60613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NetworkClient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60613" y="299923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UDP 소켓 비동기 전송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652053" y="3255264"/>
            <a:ext cx="1078992" cy="9144"/>
          </a:xfrm>
          <a:prstGeom prst="line">
            <a:avLst/>
          </a:prstGeom>
          <a:noFill/>
          <a:ln w="8890">
            <a:solidFill>
              <a:srgbClr val="DDE3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5477" y="3328416"/>
            <a:ext cx="115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uWebSockets 릴레이</a:t>
            </a:r>
            <a:endParaRPr lang="en-US" sz="8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기반 라우팅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22485" y="312724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041941" y="2615184"/>
            <a:ext cx="1261872" cy="1417320"/>
          </a:xfrm>
          <a:prstGeom prst="roundRect">
            <a:avLst>
              <a:gd name="adj" fmla="val 7246"/>
            </a:avLst>
          </a:prstGeom>
          <a:solidFill>
            <a:srgbClr val="F2F3F5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1941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HRTF 재생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41941" y="299923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공간음향 재생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133381" y="3255264"/>
            <a:ext cx="1078992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96805" y="3328416"/>
            <a:ext cx="115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Protobuf Header-Body</a:t>
            </a:r>
            <a:endParaRPr lang="en-US" sz="8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직렬화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296205" y="4160520"/>
            <a:ext cx="6309360" cy="713232"/>
          </a:xfrm>
          <a:prstGeom prst="roundRect">
            <a:avLst>
              <a:gd name="adj" fmla="val 10256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3365" y="4215384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생사 분리 전략 패턴 (IListenStrategy)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33365" y="4471416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생존자: 거리 기반으로 청취 범위를 제한하고 사망자 목소리를 차단  ·  영혼: 다른 영혼과는 항상 통화 가능, 특정 조건 충족 시에만 생존자에게 들림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44" name="Text 42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캡처부터 3D 공간음향 재생까지 전체 보이스 파이프라인을 직접 설계하고, 게임 상태에 따른 청취 규칙을 전략 패턴으로 분리했습니다.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Mausoleum — UVoiceCaptureProcessor · IListenStrategy · uWebSockets 서버 (2026.02 – 2026.03)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프로젝트 02 · 영묘 (Mausoleum) — 문제 해결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UE5 API 함정 · 백그라운드 버퍼 누적 · 두 시계 혼용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DirectSound ID 불일치 · 버퍼 폐기 + 코덱 리셋 · 카운트 기반 페이즈 전환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47388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8899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4165" y="2029968"/>
            <a:ext cx="3660343" cy="3483864"/>
          </a:xfrm>
          <a:prstGeom prst="roundRect">
            <a:avLst>
              <a:gd name="adj" fmla="val 3675"/>
            </a:avLst>
          </a:prstGeom>
          <a:solidFill>
            <a:srgbClr val="F8F9FF"/>
          </a:solidFill>
          <a:ln w="17780">
            <a:solidFill>
              <a:srgbClr val="A8B7F8"/>
            </a:solidFill>
            <a:prstDash val="solid"/>
          </a:ln>
          <a:effectLst>
            <a:outerShdw blurRad="190500" dist="50800" dir="5400000" algn="bl" rotWithShape="0">
              <a:srgbClr val="4F6EF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8757" y="2176272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디바이스 null —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 전혀 전송 안 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8757" y="2779776"/>
            <a:ext cx="3239719" cy="9144"/>
          </a:xfrm>
          <a:prstGeom prst="line">
            <a:avLst/>
          </a:prstGeom>
          <a:noFill/>
          <a:ln w="8890">
            <a:solidFill>
              <a:srgbClr val="DDE3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7" y="28529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8757" y="3072384"/>
            <a:ext cx="333115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마이크의 표시 이름('마이크(Realtek Audio)')을 그대로 UE5 캡처 API에 전달했더니 null을 반환했습니다. 내부에서 DirectSound 디바이스 ID와 매칭을 시도하는데, Friendly Name은 매칭에 실패합니다. 결과적으로 캡처 객체가 없어 빈 데이터만 전송되었습니다.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8757" y="41330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8757" y="4352544"/>
            <a:ext cx="333115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문자열을 전달하면 OS 기본 장치를 선택하고 항상 유효한 캡처 객체를 반환한다는 것을 확인했습니다. 장치 이름 대신 빈 문자열로 초기화하는 것으로 수정했습니다.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8757" y="5102352"/>
            <a:ext cx="3331159" cy="237744"/>
          </a:xfrm>
          <a:prstGeom prst="roundRect">
            <a:avLst>
              <a:gd name="adj" fmla="val 19231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9" y="5102352"/>
            <a:ext cx="31848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 채팅 프로토타입 완료 (Day 10)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11980" y="2176272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복귀 시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음성 한꺼번에 재생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1980" y="2779776"/>
            <a:ext cx="3239719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1980" y="28529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11980" y="3072384"/>
            <a:ext cx="333115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게임을 백그라운드로 전환하는 동안 마이크 캡처 버퍼가 계속 쌓입니다. 다시 포커스를 되찾으면 쌓인 버퍼가 한꺼번에 전송·재생되어 오래된 음성이 뭉쳐서 들렸습니다.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11980" y="41330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11980" y="4352544"/>
            <a:ext cx="333115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포커스가 복귀하는 시점에 캡처 버퍼를 전량 폐기하고 코덱 상태를 리셋했습니다. 이전 버퍼가 남아있지 않으므로 복귀 직후부터 깨끗한 음성이 전송됩니다.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11980" y="5102352"/>
            <a:ext cx="3331159" cy="237744"/>
          </a:xfrm>
          <a:prstGeom prst="roundRect">
            <a:avLst>
              <a:gd name="adj" fmla="val 19231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5132" y="5102352"/>
            <a:ext cx="31848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포커스 복귀 직후 깨짐 현상 해소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73491" y="2176272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시계 혼용으로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 타이머 오작동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73491" y="2779776"/>
            <a:ext cx="3239719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3491" y="28529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73491" y="3072384"/>
            <a:ext cx="333115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 프레임 시계와 게임 월드 시계를 목적 구분 없이 혼용했습니다. 게임이 일시정지되면 게임 시계는 멈추지만 렌더 시계는 계속 흘러, 페이즈 타이머가 멈추지 않고 진행되는 버그가 발생했습니다.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3491" y="41330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3491" y="4352544"/>
            <a:ext cx="333115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 전환 조건을 시간 기반에서 조각상 완료 횟수(count) 기반으로 변경했습니다. 렌더 시계는 렌더 전용, 게임 시계는 게임 로직 전용으로 사용처를 명확히 분리했습니다.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73491" y="5102352"/>
            <a:ext cx="3331159" cy="237744"/>
          </a:xfrm>
          <a:prstGeom prst="roundRect">
            <a:avLst>
              <a:gd name="adj" fmla="val 19231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6643" y="5102352"/>
            <a:ext cx="31848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 전환 타이밍 정확성 확보, 일시정지 연동 버그 해소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복귀 시 버퍼를 그대로 재생하면 사용자가 가장 먼저 체감합니다. 복귀 시 폐기가 기본값이어야 합니다.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Mausoleum — VoiceCapture 코덱 리셋 · PhaseManager 카운트 기반 전환 (2026-03)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프로젝트 03 · STICKER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날씨·일정 기반 패션 코디 추천 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3.5 · Java 21 · AWS SQS/S3 · Redis · Prometheus · Grafana · Traefik · GitLab CI/CD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452628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9503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7" y="224028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 – 2026.05  ·  6인 (React Native + Spring Boot + FastAPI)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8757" y="250545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전담 · DevOps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8757" y="2816352"/>
            <a:ext cx="3977640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7" y="288950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8757" y="316382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SQS 비동기 AI 파이프라인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8757" y="35478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중복 실행 방어 (dedup + 분산 락)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8757" y="39319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인증 시스템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8757" y="431596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Redis 다층 캐시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8757" y="470001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CI/CD 파이프라인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96205" y="22128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SQS 비동기 AI 파이프라인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97957" y="2615184"/>
            <a:ext cx="1261872" cy="1417320"/>
          </a:xfrm>
          <a:prstGeom prst="roundRect">
            <a:avLst>
              <a:gd name="adj" fmla="val 7246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7957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 Thread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97957" y="29992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블로킹 대기 시 OS 스레드 양보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89397" y="3328416"/>
            <a:ext cx="1078992" cy="9144"/>
          </a:xfrm>
          <a:prstGeom prst="line">
            <a:avLst/>
          </a:prstGeom>
          <a:noFill/>
          <a:ln w="8890">
            <a:solidFill>
              <a:srgbClr val="DDE3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2821" y="3401568"/>
            <a:ext cx="1152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SQS long-polling</a:t>
            </a:r>
            <a:endParaRPr lang="en-US" sz="8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20s 블로킹 미점유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9829" y="316382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79285" y="2615184"/>
            <a:ext cx="1261872" cy="1417320"/>
          </a:xfrm>
          <a:prstGeom prst="roundRect">
            <a:avLst>
              <a:gd name="adj" fmla="val 7246"/>
            </a:avLst>
          </a:prstGeom>
          <a:solidFill>
            <a:srgbClr val="F2F3F5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9285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Result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79285" y="29992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로직 실행 및 판정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70725" y="3328416"/>
            <a:ext cx="1078992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4149" y="3401568"/>
            <a:ext cx="1152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종류 분류</a:t>
            </a:r>
            <a:endParaRPr lang="en-US" sz="8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비즈니스/인프라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41157" y="316382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60613" y="2615184"/>
            <a:ext cx="1261872" cy="1417320"/>
          </a:xfrm>
          <a:prstGeom prst="roundRect">
            <a:avLst>
              <a:gd name="adj" fmla="val 7246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60613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Ack Strategy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60613" y="29992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오류(즉시 삭제) / 인프라 오류(재큐)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652053" y="3328416"/>
            <a:ext cx="1078992" cy="9144"/>
          </a:xfrm>
          <a:prstGeom prst="line">
            <a:avLst/>
          </a:prstGeom>
          <a:noFill/>
          <a:ln w="8890">
            <a:solidFill>
              <a:srgbClr val="DDE3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5477" y="3401568"/>
            <a:ext cx="1152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at-least-once 보장</a:t>
            </a:r>
            <a:endParaRPr lang="en-US" sz="8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Poison Pill 격리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22485" y="316382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041941" y="2615184"/>
            <a:ext cx="1261872" cy="1417320"/>
          </a:xfrm>
          <a:prstGeom prst="roundRect">
            <a:avLst>
              <a:gd name="adj" fmla="val 7246"/>
            </a:avLst>
          </a:prstGeom>
          <a:solidFill>
            <a:srgbClr val="F2F3F5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1941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Server (FastAPI)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041941" y="29992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처리 (수십 초)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133381" y="3328416"/>
            <a:ext cx="1078992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96805" y="3401568"/>
            <a:ext cx="1152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이미지 업로드</a:t>
            </a:r>
            <a:endParaRPr lang="en-US" sz="8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8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결과 저장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296205" y="4160520"/>
            <a:ext cx="6309360" cy="713232"/>
          </a:xfrm>
          <a:prstGeom prst="roundRect">
            <a:avLst>
              <a:gd name="adj" fmla="val 10256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3365" y="42153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33365" y="447141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afterCommit() → DB 커밋 완료 후에만 SQS 발행  ·  setIfAbsent → 동시 중복 요청 원자적 차단  ·  7일 TTL jobId → SQS at-least-once 중복 소비 방지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44" name="Text 42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추천은 수십 초가 걸립니다. 동기 호출 대신 SQS로 분리하고, 상태 정합성과 중복 방지를 함께 설계했습니다.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STICKER — SQS 소비기 · afterCommit · Redis 분산 락 (2026-05-17)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프로젝트 03 · STICKER — 문제 해결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DB-SQS 정합성 · Poison Pill · Refresh Token 탈취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afterCommit() 훅 · ACK 전략 분리 · Refresh Token Rotation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47388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8899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4165" y="2029968"/>
            <a:ext cx="3660343" cy="3483864"/>
          </a:xfrm>
          <a:prstGeom prst="roundRect">
            <a:avLst>
              <a:gd name="adj" fmla="val 3675"/>
            </a:avLst>
          </a:prstGeom>
          <a:solidFill>
            <a:srgbClr val="F8F9FF"/>
          </a:solidFill>
          <a:ln w="17780">
            <a:solidFill>
              <a:srgbClr val="A8B7F8"/>
            </a:solidFill>
            <a:prstDash val="solid"/>
          </a:ln>
          <a:effectLst>
            <a:outerShdw blurRad="190500" dist="50800" dir="5400000" algn="bl" rotWithShape="0">
              <a:srgbClr val="4F6EF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8757" y="2176272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커밋 전 SQS 발행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 불일치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8757" y="2779776"/>
            <a:ext cx="3239719" cy="9144"/>
          </a:xfrm>
          <a:prstGeom prst="line">
            <a:avLst/>
          </a:prstGeom>
          <a:noFill/>
          <a:ln w="8890">
            <a:solidFill>
              <a:srgbClr val="DDE3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7" y="28529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8757" y="3072384"/>
            <a:ext cx="3331159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안에서 SQS 메시지를 발행했더니 DB가 롤백되어도 메시지는 이미 큐에 들어간 상태가 됩니다. AI 서버가 메시지를 소비해 DB에 없는 데이터를 참조하면서 오류가 발생했습니다.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8757" y="41148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8757" y="4334256"/>
            <a:ext cx="333115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TransactionSynchronization.afterCommit() 훅에 SQS 발행 로직을 등록했습니다. DB 커밋이 완료된 이후에만 실행되므로 롤백 시에는 메시지가 발행되지 않습니다.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8757" y="5102352"/>
            <a:ext cx="3331159" cy="237744"/>
          </a:xfrm>
          <a:prstGeom prst="roundRect">
            <a:avLst>
              <a:gd name="adj" fmla="val 19231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9" y="5102352"/>
            <a:ext cx="31848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상태와 메시지 큐 상태의 일관성 보장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11980" y="2176272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SQS 메시지 유실 vs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재시도 딜레마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1980" y="2779776"/>
            <a:ext cx="3239719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1980" y="28529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11980" y="3072384"/>
            <a:ext cx="3331159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실패 메시지를 즉시 삭제하면 유실되고, 무조건 재시도하면 항상 실패하는 poison pill 메시지가 큐 전체를 블록합니다. 이 두 가지를 동시에 막아야 했습니다.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11980" y="41148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11980" y="4334256"/>
            <a:ext cx="333115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종류를 두 가지로 분류해 ack 전략을 분리했습니다. 비즈니스 로직 오류는 즉시 삭제합니다. 인프라 오류는 ack를 보류해 visibility timeout 후 자동 재큐됩니다.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11980" y="5102352"/>
            <a:ext cx="3331159" cy="237744"/>
          </a:xfrm>
          <a:prstGeom prst="roundRect">
            <a:avLst>
              <a:gd name="adj" fmla="val 19231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5132" y="5102352"/>
            <a:ext cx="31848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유실 없이 poison pill 격리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73491" y="2176272"/>
            <a:ext cx="3331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Refresh Token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탈취 대응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73491" y="2779776"/>
            <a:ext cx="3239719" cy="9144"/>
          </a:xfrm>
          <a:prstGeom prst="line">
            <a:avLst/>
          </a:prstGeom>
          <a:noFill/>
          <a:ln w="8890">
            <a:solidFill>
              <a:srgbClr val="ED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3491" y="28529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73491" y="3072384"/>
            <a:ext cx="3331159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탈취된 Refresh Token이 재사용되어도 서버가 구분할 방법이 없습니다. 기존 토큰과 새 토큰이 동시에 유효한 상태가 유지되어 공격자가 계속 세션을 유지할 수 있었습니다.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3491" y="41148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3491" y="4334256"/>
            <a:ext cx="333115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교환 시 기존 토큰을 즉시 폐기합니다. 이미 폐기된 토큰으로 재시도가 들어오면 탈취로 판단하고 해당 사용자의 모든 세션을 강제 만료합니다.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73491" y="5102352"/>
            <a:ext cx="3331159" cy="237744"/>
          </a:xfrm>
          <a:prstGeom prst="roundRect">
            <a:avLst>
              <a:gd name="adj" fmla="val 19231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6643" y="5102352"/>
            <a:ext cx="31848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탈취 토큰으로 로그인 시도 시 전체 세션 강제 만료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SQS는 같은 메시지를 두 번 이상 전달할 수 있습니다. 언제 삭제하고 언제 보류할지 오류 분류가 핵심입니다.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STICKER — afterCommit · SmartLifecycle · TokenRotationService.java (2026-05)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선택 근거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대안을 검토하고 트레이드오프로 결정했다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SQS · Java 21 가상 스레드 · UDP + Opus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47388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8899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4165" y="2029968"/>
            <a:ext cx="3660343" cy="3483864"/>
          </a:xfrm>
          <a:prstGeom prst="roundRect">
            <a:avLst>
              <a:gd name="adj" fmla="val 3675"/>
            </a:avLst>
          </a:prstGeom>
          <a:solidFill>
            <a:srgbClr val="F8F9FF"/>
          </a:solidFill>
          <a:ln w="17780">
            <a:solidFill>
              <a:srgbClr val="A8B7F8"/>
            </a:solidFill>
            <a:prstDash val="solid"/>
          </a:ln>
          <a:effectLst>
            <a:outerShdw blurRad="190500" dist="50800" dir="5400000" algn="bl" rotWithShape="0">
              <a:srgbClr val="4F6EF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8757" y="2176272"/>
            <a:ext cx="33311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SQS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8757" y="2505456"/>
            <a:ext cx="33311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Kafka · RabbitMQ  ·  STICKER 기술 선택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8757" y="2761488"/>
            <a:ext cx="3148279" cy="9144"/>
          </a:xfrm>
          <a:prstGeom prst="line">
            <a:avLst/>
          </a:prstGeom>
          <a:noFill/>
          <a:ln w="10160">
            <a:solidFill>
              <a:srgbClr val="DDE3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7" y="2852928"/>
            <a:ext cx="33311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추천 처리 수십 초 소요 → 동기 HTTP 호출 불가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8757" y="3291840"/>
            <a:ext cx="33311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at-least-once 보장 + visibility timeout 재처리 기본 내장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8757" y="3730752"/>
            <a:ext cx="33311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RabbitMQ는 직접 운영 필요, Kafka는 파티션·컨슈머 설정 과다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1980" y="2176272"/>
            <a:ext cx="33311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 가상 스레드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11980" y="2505456"/>
            <a:ext cx="33311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ThreadPoolExecutor · Coroutine  ·  STICKER 기술 선택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11980" y="2761488"/>
            <a:ext cx="3148279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1980" y="2852928"/>
            <a:ext cx="33311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SQS long-polling(20s) 블로킹 구간에서 OS 스레드 미점유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11980" y="3291840"/>
            <a:ext cx="33311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기존 블로킹 코드 그대로 유지 — 코드 변경 없이 스레드 비용 제거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11980" y="3730752"/>
            <a:ext cx="33311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ThreadPoolExecutor는 OS 스레드 수 한도, 코루틴은 스택 전환 필요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73491" y="2176272"/>
            <a:ext cx="33311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UDP + Opus Codec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3491" y="2505456"/>
            <a:ext cx="33311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영묘 (Mausoleum) 보이스 채팅 기술 선택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73491" y="2761488"/>
            <a:ext cx="3148279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3491" y="2834640"/>
            <a:ext cx="33311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UDP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73491" y="3054096"/>
            <a:ext cx="33311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TCP의 고질적인 Head-of-line Blocking 방지: 패킷 하나 지연 시 전체 스트림이 막히는 현상을 원천 차단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3491" y="3474720"/>
            <a:ext cx="33311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실시간 음성 채팅에서는 데이터 무결성(패킷 손실)보다 '지연시간 최소화'가 압도적으로 중요하기 때문에 채택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73491" y="3931920"/>
            <a:ext cx="33311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73491" y="4151376"/>
            <a:ext cx="333115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20ms 프레임 단위의 실시간 대화에 최적화된 저지연 고효율 오디오 코덱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3491" y="4626864"/>
            <a:ext cx="333115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무음 구간 대역폭을 아끼는 DTX와, 패킷 유실을 복구하는 FEC 기능이 자체 내장되어 있어 UDP의 불안정성을 완벽히 상쇄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선택은 트레이드오프입니다. 운영 비용, 코드 변경 범위, 프로젝트 규모를 기준으로 대안을 검토하고 결정했습니다.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OTHER PROJECTS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AutoWing Car · SSAFY BOB · Korean Snack Shop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· MQTT · A* 경로탐색 · Python FastMCP · JWT · Google OAuth2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452628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9503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7" y="22128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오토잉카 (AutoWing Car)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8757" y="252374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공항 스마트 토잉카 관제 시스템  ·  Spring Boot 3.5 · Java 17 · MQTT · WebSocket/STOMP · A* · Redis · JWT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8757" y="2816352"/>
            <a:ext cx="3977640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7" y="2889504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2026.01 – 2026.02  ·  6인  ·  백엔드 전담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8757" y="316382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이슈 &amp; 해결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8757" y="345643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DB 커밋 전 MQTT 발행 → 관제 상태 불일치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8757" y="363931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afterCommit() 훅으로 이벤트 전파 순서 고정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8757" y="3840480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텔레메트리 빈도만큼 DB 쓰기 요청 선형 증가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8757" y="4023360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Redis 쓰기 버퍼 배치화 → write points -90%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8757" y="4224528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GPS 좌표 과다 → payload 크기 과대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8757" y="4407408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RDP 알고리즘 경로 단순화 → payload -90.36%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8757" y="4608576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WebSocket 토큰이 URL에 노출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8757" y="4791456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SOCKET 토큰 1분 수명 → 탈취 피해 범위 최소화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296205" y="22128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SSAFY BOB  ·  MCP 서버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96205" y="2523744"/>
            <a:ext cx="6309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· FastMCP · Smithery · uv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96205" y="2798064"/>
            <a:ext cx="6126480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6205" y="2871216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에이전트가 SSAFY 식단 정보를 조회할 수 있는 MCP 서버 개발.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@mcp.tool로 도구 등록. Pydantic 입력 스키마로 날짜·층수 파라미터 추출.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시점에 외부 JSON 페칭하는 stateless 구조 → Smithery 배포.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96205" y="3712464"/>
            <a:ext cx="6126480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96205" y="378561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Korean Snack Shop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96205" y="4096512"/>
            <a:ext cx="6309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17 · Spring Boot · Spring Security · JWT · Google OAuth2 · AWS RDS · MySQL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96205" y="4370832"/>
            <a:ext cx="6126480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96205" y="4443984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대상 한국 간식 소개 쇼핑 플랫폼 백엔드.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+ Spring Security 회원 인증 구현. Google OAuth2 소셜 로그인 연동.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RDS MySQL 직접 구축 및 EC2 배포.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30" name="Text 28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AutoWing의 afterCommit() 설계 경험이 STICKER의 SQS 정합성 설계로 이어졌습니다. 같은 문제가 다른 도메인에서 반복됩니다.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109728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프로젝트에서 직접 사용하며 검증한 기술 스택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· AWS · C++ · UE5 · 인프라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80453" y="2011680"/>
            <a:ext cx="45262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80453" y="3840480"/>
            <a:ext cx="45262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blurRad="1524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8757" y="2194560"/>
            <a:ext cx="6345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8757" y="2560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0" y="2560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17/21 · Spring Security · JWT · AOP  (STICKER · AutoWing · Korean Snack Shop)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8757" y="29992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SQS / S3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17520" y="299923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AI 파이프라인 · SmartLifecycle 소비기  (STICKER)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8757" y="34381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343814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Refresh Token · 분산 락 · dedup · 날씨 캐시 · 쓰기 버퍼  (STICKER · AutoWing)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8757" y="38770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 / WebSocket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17520" y="387705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STOMP Broker · 역할 기반 채널 · 1분 핸드셰이크 토큰  (AutoWing)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8757" y="43159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/ MySQL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17520" y="431596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이력 저장 · Redis 배치 후 적재 · AWS RDS  (AutoWing · Korean Snack Shop)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8757" y="47548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 · Grafana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520" y="475488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Micrometer AOP 계층별 자동 수집 · p95/p99 SLO 시각화  (STICKER)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63333" y="21945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 / Game Systems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54773" y="24871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C++17 · OpenGL · libjpeg-turbo  (RobotPal)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54773" y="27614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Emscripten WASM · COI Service Worker  (RobotPal)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54773" y="303580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UE5 (C++) · UDP · Opus · HRTF  (Mausoleum)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554773" y="331012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uWebSockets · Protobuf · CMake  (Mausoleum)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63333" y="387705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/ DevOps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54773" y="4169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GitLab CI/CD · Docker Buildx · Traefik  (STICKER)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554773" y="444398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Docker · Jenkins · AWS EC2  (Mausoleum · AutoWing)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54773" y="471830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Micrometer AOP · p95/p99 메트릭  (STICKER)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54773" y="499262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Python · FastMCP · Smithery  (SSAFY BOB)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32" name="Text 30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구조 설계가 중심이지만, C++ 시스템 프로그래밍부터 AI 서버 연동까지 직접 다뤄보며 시야를 넓혔습니다.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6E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구현보다</a:t>
            </a:r>
            <a:endParaRPr lang="en-US" sz="4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문제를 분석하고</a:t>
            </a:r>
            <a:endParaRPr lang="en-US" sz="4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구조적으로 해결합니다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47472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81E25">
              <a:alpha val="30000"/>
            </a:srgbClr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661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계측한다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9867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병목이 어디인지 수치로 확인한다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0" y="347472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81E25">
              <a:alpha val="30000"/>
            </a:srgbClr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35661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단계를 나눈다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39867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처리·전파·저장 순서를 지킨다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955280" y="347472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81E25">
              <a:alpha val="30000"/>
            </a:srgbClr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35661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정합성을 지킨다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39867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역전과 중복 발행을 구조로 막는다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yoonpyo  ·  cgantro@gmail.com  ·  광운대학교  ·  정보처리기사  ·  OPIc IH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2440</Words>
  <Application>Microsoft Office PowerPoint</Application>
  <PresentationFormat>와이드스크린</PresentationFormat>
  <Paragraphs>304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yoonpyo Portfolio</dc:title>
  <dc:subject>PptxGenJS Presentation</dc:subject>
  <dc:creator>yoonpyo</dc:creator>
  <cp:lastModifiedBy>SSAFY</cp:lastModifiedBy>
  <cp:revision>1</cp:revision>
  <dcterms:created xsi:type="dcterms:W3CDTF">2026-05-28T08:09:38Z</dcterms:created>
  <dcterms:modified xsi:type="dcterms:W3CDTF">2026-05-28T08:54:09Z</dcterms:modified>
</cp:coreProperties>
</file>